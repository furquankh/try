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82"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06345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Today I will present on Digital Marketing, a topic that has completely changed how businesses reach customers. Along with me is my partner, and together we will walk you through what digital marketing means, its types, benefits, and where this field is heading. Let us get started.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Digital marketing simply means promoting a business using the internet instead of newspapers or TV. It matters because almost every customer today searches online before buying anything. Whether it is a Google search, an Instagram ad, or an email offer, all of this falls under digital marketing. It is faster, cheaper, and reaches more people.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six major types of digital marketing. SEO helps websites rank higher on Google. Social media marketing uses platforms like Instagram and Facebook. Email marketing sends offers directly to customers. Content marketing includes blogs and videos. PPC means paid ads where you pay per click. Affiliate marketing rewards others for promoting your product.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platforms most businesses use. Google helps reach people who are already searching to buy. Facebook and Instagram are great for visual ads and reaching a large audience. YouTube works well for video content. LinkedIn is used for professional and B2B marketing. WhatsApp helps businesses talk to customers directly and personally.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Digital marketing offers many advantages. It has global reach, meaning even a small business can sell worldwide. It costs much less than traditional advertising. Businesses can engage directly with customers and measure exactly how ads are performing. Marketing runs all day and night, which naturally leads to higher sales over time.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Along with benefits, digital marketing also has challenges. Competition online is very high, so standing out is difficult. There are privacy concerns about customer data. It requires skills and constant learning since platforms and algorithms keep changing. Fake reviews can also hurt trust, and building real results takes time and patience.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Digital marketing follows a clear process. It starts with research to understand the audience, then planning the strategy. Next comes content creation, followed by promotion across platforms. After that, businesses focus on customer engagement, then analyze the results using data. Finally, they make improvements and repeat the cycle to get better results.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look at a simple real-life example. A small clothing shop opens an Instagram business page and starts posting product photos and reels regularly. It then runs small paid ads targeting people nearby who are likely to buy. Over time, this steady effort brings more visibility, more orders, and repeat customers, all without opening a new physical store.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Digital marketing keeps evolving quickly. Artificial intelligence is helping brands target the right audience more accurately. Chatbots now provide instant customer support any time of day. Influencer marketing continues to grow in trust and reach. Voice search, personalization, and automation are also shaping how businesses will market themselves in the coming years.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Digital marketing also opens up many career paths for students. You can work as an SEO specialist, social media manager, content writer, or PPC expert. Many companies also hire digital marketing executives, and this field is entry friendly for freshers. Freelancing is another popular option, offering flexible income and the freedom to work with multiple clients.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digital marketing is promoting a business using the internet. It includes types like SEO, social media, email, content, PPC, and affiliate marketing. Its main benefits are low cost, wide reach, and measurable results. Looking ahead, AI, automation, and personalization will shape the future of this growing field.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That covers everything about digital marketing, from its meaning and types to its benefits, challenges, and future scope. We hope this gave you a clear and simple understanding of the topic. We are happy to answer any questions you may have.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8.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8.png"/><Relationship Id="rId4" Type="http://schemas.openxmlformats.org/officeDocument/2006/relationships/image" Target="../media/image29.png"/><Relationship Id="rId9" Type="http://schemas.openxmlformats.org/officeDocument/2006/relationships/image" Target="../media/image31.png"/></Relationships>
</file>

<file path=ppt/slides/_rels/slide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7.png"/><Relationship Id="rId7"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5.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95B"/>
        </a:solidFill>
        <a:effectLst/>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1B6FA8"/>
          </a:solidFill>
          <a:ln/>
        </p:spPr>
      </p:sp>
      <p:sp>
        <p:nvSpPr>
          <p:cNvPr id="3" name="Shape 1"/>
          <p:cNvSpPr/>
          <p:nvPr/>
        </p:nvSpPr>
        <p:spPr>
          <a:xfrm>
            <a:off x="-1463040" y="4846320"/>
            <a:ext cx="3474720" cy="3474720"/>
          </a:xfrm>
          <a:prstGeom prst="ellipse">
            <a:avLst/>
          </a:prstGeom>
          <a:solidFill>
            <a:srgbClr val="1B6FA8"/>
          </a:solidFill>
          <a:ln/>
        </p:spPr>
      </p:sp>
      <p:sp>
        <p:nvSpPr>
          <p:cNvPr id="4" name="Shape 2"/>
          <p:cNvSpPr/>
          <p:nvPr/>
        </p:nvSpPr>
        <p:spPr>
          <a:xfrm>
            <a:off x="10607040" y="5212080"/>
            <a:ext cx="2103120" cy="2103120"/>
          </a:xfrm>
          <a:prstGeom prst="ellipse">
            <a:avLst/>
          </a:prstGeom>
          <a:solidFill>
            <a:srgbClr val="F5A623"/>
          </a:solidFill>
          <a:ln/>
        </p:spPr>
      </p:sp>
      <p:pic>
        <p:nvPicPr>
          <p:cNvPr id="5" name="Image 0" descr="/home/claude/dm_ppt/assets/logo_rgba.png"/>
          <p:cNvPicPr>
            <a:picLocks noChangeAspect="1"/>
          </p:cNvPicPr>
          <p:nvPr/>
        </p:nvPicPr>
        <p:blipFill>
          <a:blip r:embed="rId3"/>
          <a:stretch>
            <a:fillRect/>
          </a:stretch>
        </p:blipFill>
        <p:spPr>
          <a:xfrm>
            <a:off x="640080" y="502920"/>
            <a:ext cx="1051560" cy="771835"/>
          </a:xfrm>
          <a:prstGeom prst="rect">
            <a:avLst/>
          </a:prstGeom>
        </p:spPr>
      </p:pic>
      <p:sp>
        <p:nvSpPr>
          <p:cNvPr id="6" name="Text 3"/>
          <p:cNvSpPr/>
          <p:nvPr/>
        </p:nvSpPr>
        <p:spPr>
          <a:xfrm>
            <a:off x="1828800" y="640080"/>
            <a:ext cx="7772400" cy="457200"/>
          </a:xfrm>
          <a:prstGeom prst="rect">
            <a:avLst/>
          </a:prstGeom>
          <a:noFill/>
          <a:ln/>
        </p:spPr>
        <p:txBody>
          <a:bodyPr wrap="square" rtlCol="0" anchor="ctr"/>
          <a:lstStyle/>
          <a:p>
            <a:pPr marL="0" indent="0" algn="l">
              <a:buNone/>
            </a:pPr>
            <a:r>
              <a:rPr lang="en-US" sz="1400" dirty="0">
                <a:solidFill>
                  <a:srgbClr val="FFFFFF"/>
                </a:solidFill>
                <a:latin typeface="Calibri" pitchFamily="34" charset="0"/>
                <a:ea typeface="Calibri" pitchFamily="34" charset="-122"/>
                <a:cs typeface="Calibri" pitchFamily="34" charset="-120"/>
              </a:rPr>
              <a:t>J.B.S.P. Sanstha's College, Panvel</a:t>
            </a:r>
            <a:endParaRPr lang="en-US" sz="1400" dirty="0"/>
          </a:p>
        </p:txBody>
      </p:sp>
      <p:sp>
        <p:nvSpPr>
          <p:cNvPr id="7" name="Shape 4"/>
          <p:cNvSpPr/>
          <p:nvPr/>
        </p:nvSpPr>
        <p:spPr>
          <a:xfrm>
            <a:off x="5394960" y="1874520"/>
            <a:ext cx="914400" cy="914400"/>
          </a:xfrm>
          <a:prstGeom prst="ellipse">
            <a:avLst/>
          </a:prstGeom>
          <a:solidFill>
            <a:srgbClr val="F5A623"/>
          </a:solidFill>
          <a:ln/>
          <a:effectLst>
            <a:outerShdw blurRad="76200" dist="25400" dir="5400000" algn="bl" rotWithShape="0">
              <a:srgbClr val="808080">
                <a:alpha val="25000"/>
              </a:srgbClr>
            </a:outerShdw>
          </a:effectLst>
        </p:spPr>
      </p:sp>
      <p:pic>
        <p:nvPicPr>
          <p:cNvPr id="8" name="Image 1" descr="/home/claude/dm_ppt/assets/icons/megaphone.png"/>
          <p:cNvPicPr>
            <a:picLocks noChangeAspect="1"/>
          </p:cNvPicPr>
          <p:nvPr/>
        </p:nvPicPr>
        <p:blipFill>
          <a:blip r:embed="rId4"/>
          <a:stretch>
            <a:fillRect/>
          </a:stretch>
        </p:blipFill>
        <p:spPr>
          <a:xfrm>
            <a:off x="5623560" y="2103120"/>
            <a:ext cx="457200" cy="457200"/>
          </a:xfrm>
          <a:prstGeom prst="rect">
            <a:avLst/>
          </a:prstGeom>
        </p:spPr>
      </p:pic>
      <p:sp>
        <p:nvSpPr>
          <p:cNvPr id="9" name="Text 5"/>
          <p:cNvSpPr/>
          <p:nvPr/>
        </p:nvSpPr>
        <p:spPr>
          <a:xfrm>
            <a:off x="731520" y="2880360"/>
            <a:ext cx="10725912" cy="1051560"/>
          </a:xfrm>
          <a:prstGeom prst="rect">
            <a:avLst/>
          </a:prstGeom>
          <a:noFill/>
          <a:ln/>
        </p:spPr>
        <p:txBody>
          <a:bodyPr wrap="square" rtlCol="0" anchor="ctr"/>
          <a:lstStyle/>
          <a:p>
            <a:pPr marL="0" indent="0" algn="ctr">
              <a:buNone/>
            </a:pPr>
            <a:r>
              <a:rPr lang="en-US" sz="5400" b="1" dirty="0">
                <a:solidFill>
                  <a:srgbClr val="FFFFFF"/>
                </a:solidFill>
                <a:latin typeface="Cambria" pitchFamily="34" charset="0"/>
                <a:ea typeface="Cambria" pitchFamily="34" charset="-122"/>
                <a:cs typeface="Cambria" pitchFamily="34" charset="-120"/>
              </a:rPr>
              <a:t>Digital Marketing</a:t>
            </a:r>
            <a:endParaRPr lang="en-US" sz="5400" dirty="0"/>
          </a:p>
        </p:txBody>
      </p:sp>
      <p:sp>
        <p:nvSpPr>
          <p:cNvPr id="10" name="Text 6"/>
          <p:cNvSpPr/>
          <p:nvPr/>
        </p:nvSpPr>
        <p:spPr>
          <a:xfrm>
            <a:off x="731520" y="3913632"/>
            <a:ext cx="10725912" cy="502920"/>
          </a:xfrm>
          <a:prstGeom prst="rect">
            <a:avLst/>
          </a:prstGeom>
          <a:noFill/>
          <a:ln/>
        </p:spPr>
        <p:txBody>
          <a:bodyPr wrap="square" rtlCol="0" anchor="ctr"/>
          <a:lstStyle/>
          <a:p>
            <a:pPr marL="0" indent="0" algn="ctr">
              <a:buNone/>
            </a:pPr>
            <a:r>
              <a:rPr lang="en-US" sz="2000" i="1" dirty="0">
                <a:solidFill>
                  <a:srgbClr val="F5A623"/>
                </a:solidFill>
                <a:latin typeface="Calibri" pitchFamily="34" charset="0"/>
                <a:ea typeface="Calibri" pitchFamily="34" charset="-122"/>
                <a:cs typeface="Calibri" pitchFamily="34" charset="-120"/>
              </a:rPr>
              <a:t>Connecting Businesses with Customers Online</a:t>
            </a:r>
            <a:endParaRPr lang="en-US" sz="2000" dirty="0"/>
          </a:p>
        </p:txBody>
      </p:sp>
      <p:sp>
        <p:nvSpPr>
          <p:cNvPr id="15" name="Shape 7">
            <a:extLst>
              <a:ext uri="{FF2B5EF4-FFF2-40B4-BE49-F238E27FC236}">
                <a16:creationId xmlns:a16="http://schemas.microsoft.com/office/drawing/2014/main" id="{B9D11373-66DA-10BC-B9EA-772F642E2821}"/>
              </a:ext>
            </a:extLst>
          </p:cNvPr>
          <p:cNvSpPr/>
          <p:nvPr/>
        </p:nvSpPr>
        <p:spPr>
          <a:xfrm>
            <a:off x="3685231" y="5599706"/>
            <a:ext cx="4754880" cy="618214"/>
          </a:xfrm>
          <a:prstGeom prst="roundRect">
            <a:avLst>
              <a:gd name="adj" fmla="val 14286"/>
            </a:avLst>
          </a:prstGeom>
          <a:solidFill>
            <a:srgbClr val="16456F"/>
          </a:solidFill>
          <a:ln/>
        </p:spPr>
        <p:txBody>
          <a:bodyPr/>
          <a:lstStyle/>
          <a:p>
            <a:endParaRPr lang="en-US" dirty="0"/>
          </a:p>
        </p:txBody>
      </p:sp>
      <p:sp>
        <p:nvSpPr>
          <p:cNvPr id="16" name="Text 8">
            <a:extLst>
              <a:ext uri="{FF2B5EF4-FFF2-40B4-BE49-F238E27FC236}">
                <a16:creationId xmlns:a16="http://schemas.microsoft.com/office/drawing/2014/main" id="{4E30FB1A-5FE9-297D-0BD3-F150F1B7435E}"/>
              </a:ext>
            </a:extLst>
          </p:cNvPr>
          <p:cNvSpPr/>
          <p:nvPr/>
        </p:nvSpPr>
        <p:spPr>
          <a:xfrm>
            <a:off x="3762756" y="5650992"/>
            <a:ext cx="4663440" cy="27432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Name: Aymaan Aejaz Khalfe  &amp;  Muskan Santosh Walilkar</a:t>
            </a:r>
            <a:endParaRPr lang="en-US" sz="1250" dirty="0"/>
          </a:p>
        </p:txBody>
      </p:sp>
      <p:sp>
        <p:nvSpPr>
          <p:cNvPr id="17" name="Text 8">
            <a:extLst>
              <a:ext uri="{FF2B5EF4-FFF2-40B4-BE49-F238E27FC236}">
                <a16:creationId xmlns:a16="http://schemas.microsoft.com/office/drawing/2014/main" id="{89C312AA-90CB-FDFA-679B-EB22B56695D5}"/>
              </a:ext>
            </a:extLst>
          </p:cNvPr>
          <p:cNvSpPr/>
          <p:nvPr/>
        </p:nvSpPr>
        <p:spPr>
          <a:xfrm>
            <a:off x="3785616" y="5967454"/>
            <a:ext cx="4663440" cy="274320"/>
          </a:xfrm>
          <a:prstGeom prst="rect">
            <a:avLst/>
          </a:prstGeom>
          <a:noFill/>
          <a:ln/>
        </p:spPr>
        <p:txBody>
          <a:bodyPr wrap="square" rtlCol="0" anchor="ctr"/>
          <a:lstStyle/>
          <a:p>
            <a:pPr algn="ctr"/>
            <a:r>
              <a:rPr lang="en-US" sz="1250" dirty="0"/>
              <a:t>Guided By : Rahul Kamble Sir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685800"/>
          </a:xfrm>
          <a:prstGeom prst="rect">
            <a:avLst/>
          </a:prstGeom>
          <a:noFill/>
          <a:ln/>
        </p:spPr>
        <p:txBody>
          <a:bodyPr wrap="square" rtlCol="0" anchor="ctr"/>
          <a:lstStyle/>
          <a:p>
            <a:pPr marL="0" indent="0" algn="l">
              <a:buNone/>
            </a:pPr>
            <a:r>
              <a:rPr lang="en-US" sz="3200" b="1" dirty="0">
                <a:solidFill>
                  <a:srgbClr val="12395B"/>
                </a:solidFill>
                <a:latin typeface="Cambria" pitchFamily="34" charset="0"/>
                <a:ea typeface="Cambria" pitchFamily="34" charset="-122"/>
                <a:cs typeface="Cambria" pitchFamily="34" charset="-120"/>
              </a:rPr>
              <a:t>What is Digital Marketing?</a:t>
            </a:r>
            <a:endParaRPr lang="en-US" sz="3200" dirty="0"/>
          </a:p>
        </p:txBody>
      </p:sp>
      <p:sp>
        <p:nvSpPr>
          <p:cNvPr id="3" name="Shape 1"/>
          <p:cNvSpPr/>
          <p:nvPr/>
        </p:nvSpPr>
        <p:spPr>
          <a:xfrm>
            <a:off x="0" y="1170432"/>
            <a:ext cx="12188952" cy="18288"/>
          </a:xfrm>
          <a:prstGeom prst="rect">
            <a:avLst/>
          </a:prstGeom>
          <a:solidFill>
            <a:srgbClr val="E3E9EF"/>
          </a:solidFill>
          <a:ln/>
        </p:spPr>
      </p:sp>
      <p:sp>
        <p:nvSpPr>
          <p:cNvPr id="4" name="Text 2"/>
          <p:cNvSpPr/>
          <p:nvPr/>
        </p:nvSpPr>
        <p:spPr>
          <a:xfrm>
            <a:off x="548640" y="1554480"/>
            <a:ext cx="6309360" cy="3657600"/>
          </a:xfrm>
          <a:prstGeom prst="rect">
            <a:avLst/>
          </a:prstGeom>
          <a:noFill/>
          <a:ln/>
        </p:spPr>
        <p:txBody>
          <a:bodyPr wrap="square" rtlCol="0" anchor="t"/>
          <a:lstStyle/>
          <a:p>
            <a:pPr marL="228600" indent="-228600" algn="l">
              <a:spcAft>
                <a:spcPts val="1400"/>
              </a:spcAft>
              <a:buSzPct val="100000"/>
              <a:buChar char="●"/>
            </a:pPr>
            <a:r>
              <a:rPr lang="en-US" sz="1550" dirty="0">
                <a:solidFill>
                  <a:srgbClr val="1B2430"/>
                </a:solidFill>
                <a:latin typeface="Calibri" pitchFamily="34" charset="0"/>
                <a:ea typeface="Calibri" pitchFamily="34" charset="-122"/>
                <a:cs typeface="Calibri" pitchFamily="34" charset="-120"/>
              </a:rPr>
              <a:t>Promoting products or services using internet</a:t>
            </a:r>
            <a:endParaRPr lang="en-US" sz="1550" dirty="0"/>
          </a:p>
          <a:p>
            <a:pPr marL="228600" indent="-228600" algn="l">
              <a:spcAft>
                <a:spcPts val="1400"/>
              </a:spcAft>
              <a:buSzPct val="100000"/>
              <a:buChar char="●"/>
            </a:pPr>
            <a:r>
              <a:rPr lang="en-US" sz="1550" dirty="0">
                <a:solidFill>
                  <a:srgbClr val="1B2430"/>
                </a:solidFill>
                <a:latin typeface="Calibri" pitchFamily="34" charset="0"/>
                <a:ea typeface="Calibri" pitchFamily="34" charset="-122"/>
                <a:cs typeface="Calibri" pitchFamily="34" charset="-120"/>
              </a:rPr>
              <a:t>Reaches people through phones, apps and websites</a:t>
            </a:r>
            <a:endParaRPr lang="en-US" sz="1550" dirty="0"/>
          </a:p>
          <a:p>
            <a:pPr marL="228600" indent="-228600" algn="l">
              <a:spcAft>
                <a:spcPts val="1400"/>
              </a:spcAft>
              <a:buSzPct val="100000"/>
              <a:buChar char="●"/>
            </a:pPr>
            <a:r>
              <a:rPr lang="en-US" sz="1550" dirty="0">
                <a:solidFill>
                  <a:srgbClr val="1B2430"/>
                </a:solidFill>
                <a:latin typeface="Calibri" pitchFamily="34" charset="0"/>
                <a:ea typeface="Calibri" pitchFamily="34" charset="-122"/>
                <a:cs typeface="Calibri" pitchFamily="34" charset="-120"/>
              </a:rPr>
              <a:t>Important because most customers search online first</a:t>
            </a:r>
            <a:endParaRPr lang="en-US" sz="1550" dirty="0"/>
          </a:p>
          <a:p>
            <a:pPr marL="228600" indent="-228600" algn="l">
              <a:spcAft>
                <a:spcPts val="1400"/>
              </a:spcAft>
              <a:buSzPct val="100000"/>
              <a:buChar char="●"/>
            </a:pPr>
            <a:r>
              <a:rPr lang="en-US" sz="1550" dirty="0">
                <a:solidFill>
                  <a:srgbClr val="1B2430"/>
                </a:solidFill>
                <a:latin typeface="Calibri" pitchFamily="34" charset="0"/>
                <a:ea typeface="Calibri" pitchFamily="34" charset="-122"/>
                <a:cs typeface="Calibri" pitchFamily="34" charset="-120"/>
              </a:rPr>
              <a:t>Cheaper and faster than traditional advertising methods</a:t>
            </a:r>
            <a:endParaRPr lang="en-US" sz="1550" dirty="0"/>
          </a:p>
          <a:p>
            <a:pPr marL="228600" indent="-228600" algn="l">
              <a:spcAft>
                <a:spcPts val="1400"/>
              </a:spcAft>
              <a:buSzPct val="100000"/>
              <a:buChar char="●"/>
            </a:pPr>
            <a:r>
              <a:rPr lang="en-US" sz="1550" dirty="0">
                <a:solidFill>
                  <a:srgbClr val="1B2430"/>
                </a:solidFill>
                <a:latin typeface="Calibri" pitchFamily="34" charset="0"/>
                <a:ea typeface="Calibri" pitchFamily="34" charset="-122"/>
                <a:cs typeface="Calibri" pitchFamily="34" charset="-120"/>
              </a:rPr>
              <a:t>Example: Instagram ads, Google search, email offers</a:t>
            </a:r>
            <a:endParaRPr lang="en-US" sz="1550" dirty="0"/>
          </a:p>
        </p:txBody>
      </p:sp>
      <p:sp>
        <p:nvSpPr>
          <p:cNvPr id="5" name="Shape 3"/>
          <p:cNvSpPr/>
          <p:nvPr/>
        </p:nvSpPr>
        <p:spPr>
          <a:xfrm>
            <a:off x="7680960" y="1737360"/>
            <a:ext cx="3931920" cy="3200400"/>
          </a:xfrm>
          <a:prstGeom prst="roundRect">
            <a:avLst>
              <a:gd name="adj" fmla="val 4571"/>
            </a:avLst>
          </a:prstGeom>
          <a:solidFill>
            <a:srgbClr val="12395B"/>
          </a:solidFill>
          <a:ln/>
          <a:effectLst>
            <a:outerShdw blurRad="127000" dist="38100" dir="5400000" algn="bl" rotWithShape="0">
              <a:srgbClr val="8090A0">
                <a:alpha val="25000"/>
              </a:srgbClr>
            </a:outerShdw>
          </a:effectLst>
        </p:spPr>
      </p:sp>
      <p:sp>
        <p:nvSpPr>
          <p:cNvPr id="6" name="Shape 4"/>
          <p:cNvSpPr/>
          <p:nvPr/>
        </p:nvSpPr>
        <p:spPr>
          <a:xfrm>
            <a:off x="7882128" y="2194560"/>
            <a:ext cx="3529584" cy="2514600"/>
          </a:xfrm>
          <a:prstGeom prst="roundRect">
            <a:avLst>
              <a:gd name="adj" fmla="val 2909"/>
            </a:avLst>
          </a:prstGeom>
          <a:solidFill>
            <a:srgbClr val="EAF3FB"/>
          </a:solidFill>
          <a:ln/>
        </p:spPr>
      </p:sp>
      <p:sp>
        <p:nvSpPr>
          <p:cNvPr id="7" name="Shape 5"/>
          <p:cNvSpPr/>
          <p:nvPr/>
        </p:nvSpPr>
        <p:spPr>
          <a:xfrm>
            <a:off x="7936992" y="1938528"/>
            <a:ext cx="146304" cy="146304"/>
          </a:xfrm>
          <a:prstGeom prst="ellipse">
            <a:avLst/>
          </a:prstGeom>
          <a:solidFill>
            <a:srgbClr val="E74C3C"/>
          </a:solidFill>
          <a:ln/>
        </p:spPr>
      </p:sp>
      <p:sp>
        <p:nvSpPr>
          <p:cNvPr id="8" name="Shape 6"/>
          <p:cNvSpPr/>
          <p:nvPr/>
        </p:nvSpPr>
        <p:spPr>
          <a:xfrm>
            <a:off x="8193024" y="1938528"/>
            <a:ext cx="146304" cy="146304"/>
          </a:xfrm>
          <a:prstGeom prst="ellipse">
            <a:avLst/>
          </a:prstGeom>
          <a:solidFill>
            <a:srgbClr val="F5A623"/>
          </a:solidFill>
          <a:ln/>
        </p:spPr>
      </p:sp>
      <p:sp>
        <p:nvSpPr>
          <p:cNvPr id="9" name="Shape 7"/>
          <p:cNvSpPr/>
          <p:nvPr/>
        </p:nvSpPr>
        <p:spPr>
          <a:xfrm>
            <a:off x="8449056" y="1938528"/>
            <a:ext cx="146304" cy="146304"/>
          </a:xfrm>
          <a:prstGeom prst="ellipse">
            <a:avLst/>
          </a:prstGeom>
          <a:solidFill>
            <a:srgbClr val="2ECC71"/>
          </a:solidFill>
          <a:ln/>
        </p:spPr>
      </p:sp>
      <p:sp>
        <p:nvSpPr>
          <p:cNvPr id="10" name="Shape 8"/>
          <p:cNvSpPr/>
          <p:nvPr/>
        </p:nvSpPr>
        <p:spPr>
          <a:xfrm>
            <a:off x="8869680" y="2953512"/>
            <a:ext cx="777240" cy="777240"/>
          </a:xfrm>
          <a:prstGeom prst="ellipse">
            <a:avLst/>
          </a:prstGeom>
          <a:solidFill>
            <a:srgbClr val="1B6FA8"/>
          </a:solidFill>
          <a:ln/>
          <a:effectLst>
            <a:outerShdw blurRad="76200" dist="25400" dir="5400000" algn="bl" rotWithShape="0">
              <a:srgbClr val="808080">
                <a:alpha val="25000"/>
              </a:srgbClr>
            </a:outerShdw>
          </a:effectLst>
        </p:spPr>
      </p:sp>
      <p:pic>
        <p:nvPicPr>
          <p:cNvPr id="11" name="Image 0" descr="/home/claude/dm_ppt/assets/icons/idea.png"/>
          <p:cNvPicPr>
            <a:picLocks noChangeAspect="1"/>
          </p:cNvPicPr>
          <p:nvPr/>
        </p:nvPicPr>
        <p:blipFill>
          <a:blip r:embed="rId3"/>
          <a:stretch>
            <a:fillRect/>
          </a:stretch>
        </p:blipFill>
        <p:spPr>
          <a:xfrm>
            <a:off x="9044559" y="3128391"/>
            <a:ext cx="427482" cy="427482"/>
          </a:xfrm>
          <a:prstGeom prst="rect">
            <a:avLst/>
          </a:prstGeom>
        </p:spPr>
      </p:pic>
      <p:sp>
        <p:nvSpPr>
          <p:cNvPr id="12" name="Shape 9"/>
          <p:cNvSpPr/>
          <p:nvPr/>
        </p:nvSpPr>
        <p:spPr>
          <a:xfrm>
            <a:off x="7360920" y="1463040"/>
            <a:ext cx="685800" cy="685800"/>
          </a:xfrm>
          <a:prstGeom prst="ellipse">
            <a:avLst/>
          </a:prstGeom>
          <a:solidFill>
            <a:srgbClr val="F5A623"/>
          </a:solidFill>
          <a:ln/>
          <a:effectLst>
            <a:outerShdw blurRad="76200" dist="25400" dir="5400000" algn="bl" rotWithShape="0">
              <a:srgbClr val="808080">
                <a:alpha val="25000"/>
              </a:srgbClr>
            </a:outerShdw>
          </a:effectLst>
        </p:spPr>
      </p:sp>
      <p:pic>
        <p:nvPicPr>
          <p:cNvPr id="13" name="Image 1" descr="/home/claude/dm_ppt/assets/icons/email.png"/>
          <p:cNvPicPr>
            <a:picLocks noChangeAspect="1"/>
          </p:cNvPicPr>
          <p:nvPr/>
        </p:nvPicPr>
        <p:blipFill>
          <a:blip r:embed="rId4"/>
          <a:stretch>
            <a:fillRect/>
          </a:stretch>
        </p:blipFill>
        <p:spPr>
          <a:xfrm>
            <a:off x="7532370" y="1634490"/>
            <a:ext cx="342900" cy="342900"/>
          </a:xfrm>
          <a:prstGeom prst="rect">
            <a:avLst/>
          </a:prstGeom>
        </p:spPr>
      </p:pic>
      <p:sp>
        <p:nvSpPr>
          <p:cNvPr id="14" name="Shape 10"/>
          <p:cNvSpPr/>
          <p:nvPr/>
        </p:nvSpPr>
        <p:spPr>
          <a:xfrm>
            <a:off x="11155680" y="1417320"/>
            <a:ext cx="685800" cy="685800"/>
          </a:xfrm>
          <a:prstGeom prst="ellipse">
            <a:avLst/>
          </a:prstGeom>
          <a:solidFill>
            <a:srgbClr val="1B6FA8"/>
          </a:solidFill>
          <a:ln/>
          <a:effectLst>
            <a:outerShdw blurRad="76200" dist="25400" dir="5400000" algn="bl" rotWithShape="0">
              <a:srgbClr val="808080">
                <a:alpha val="25000"/>
              </a:srgbClr>
            </a:outerShdw>
          </a:effectLst>
        </p:spPr>
      </p:sp>
      <p:pic>
        <p:nvPicPr>
          <p:cNvPr id="15" name="Image 2" descr="/home/claude/dm_ppt/assets/icons/measurable.png"/>
          <p:cNvPicPr>
            <a:picLocks noChangeAspect="1"/>
          </p:cNvPicPr>
          <p:nvPr/>
        </p:nvPicPr>
        <p:blipFill>
          <a:blip r:embed="rId5"/>
          <a:stretch>
            <a:fillRect/>
          </a:stretch>
        </p:blipFill>
        <p:spPr>
          <a:xfrm>
            <a:off x="11327130" y="1588770"/>
            <a:ext cx="342900" cy="342900"/>
          </a:xfrm>
          <a:prstGeom prst="rect">
            <a:avLst/>
          </a:prstGeom>
        </p:spPr>
      </p:pic>
      <p:sp>
        <p:nvSpPr>
          <p:cNvPr id="16" name="Shape 11"/>
          <p:cNvSpPr/>
          <p:nvPr/>
        </p:nvSpPr>
        <p:spPr>
          <a:xfrm>
            <a:off x="7315200" y="4434840"/>
            <a:ext cx="731520" cy="731520"/>
          </a:xfrm>
          <a:prstGeom prst="ellipse">
            <a:avLst/>
          </a:prstGeom>
          <a:solidFill>
            <a:srgbClr val="F5A623"/>
          </a:solidFill>
          <a:ln/>
          <a:effectLst>
            <a:outerShdw blurRad="76200" dist="25400" dir="5400000" algn="bl" rotWithShape="0">
              <a:srgbClr val="808080">
                <a:alpha val="25000"/>
              </a:srgbClr>
            </a:outerShdw>
          </a:effectLst>
        </p:spPr>
      </p:sp>
      <p:pic>
        <p:nvPicPr>
          <p:cNvPr id="17" name="Image 3" descr="/home/claude/dm_ppt/assets/icons/social.png"/>
          <p:cNvPicPr>
            <a:picLocks noChangeAspect="1"/>
          </p:cNvPicPr>
          <p:nvPr/>
        </p:nvPicPr>
        <p:blipFill>
          <a:blip r:embed="rId6"/>
          <a:stretch>
            <a:fillRect/>
          </a:stretch>
        </p:blipFill>
        <p:spPr>
          <a:xfrm>
            <a:off x="7498080" y="4617720"/>
            <a:ext cx="365760" cy="365760"/>
          </a:xfrm>
          <a:prstGeom prst="rect">
            <a:avLst/>
          </a:prstGeom>
        </p:spPr>
      </p:pic>
      <p:sp>
        <p:nvSpPr>
          <p:cNvPr id="18" name="Shape 12"/>
          <p:cNvSpPr/>
          <p:nvPr/>
        </p:nvSpPr>
        <p:spPr>
          <a:xfrm>
            <a:off x="11201400" y="4480560"/>
            <a:ext cx="731520" cy="731520"/>
          </a:xfrm>
          <a:prstGeom prst="ellipse">
            <a:avLst/>
          </a:prstGeom>
          <a:solidFill>
            <a:srgbClr val="1B6FA8"/>
          </a:solidFill>
          <a:ln/>
          <a:effectLst>
            <a:outerShdw blurRad="76200" dist="25400" dir="5400000" algn="bl" rotWithShape="0">
              <a:srgbClr val="808080">
                <a:alpha val="25000"/>
              </a:srgbClr>
            </a:outerShdw>
          </a:effectLst>
        </p:spPr>
      </p:sp>
      <p:pic>
        <p:nvPicPr>
          <p:cNvPr id="19" name="Image 4" descr="/home/claude/dm_ppt/assets/icons/seo.png"/>
          <p:cNvPicPr>
            <a:picLocks noChangeAspect="1"/>
          </p:cNvPicPr>
          <p:nvPr/>
        </p:nvPicPr>
        <p:blipFill>
          <a:blip r:embed="rId7"/>
          <a:stretch>
            <a:fillRect/>
          </a:stretch>
        </p:blipFill>
        <p:spPr>
          <a:xfrm>
            <a:off x="11384280" y="4663440"/>
            <a:ext cx="365760" cy="365760"/>
          </a:xfrm>
          <a:prstGeom prst="rect">
            <a:avLst/>
          </a:prstGeom>
        </p:spPr>
      </p:pic>
      <p:sp>
        <p:nvSpPr>
          <p:cNvPr id="20" name="Text 13"/>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J.B.S.P. Sanstha's College, Panvel</a:t>
            </a:r>
            <a:endParaRPr lang="en-US" sz="900" dirty="0"/>
          </a:p>
        </p:txBody>
      </p:sp>
      <p:sp>
        <p:nvSpPr>
          <p:cNvPr id="21" name="Text 14"/>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2</a:t>
            </a:r>
            <a:endParaRPr lang="en-US" sz="900" dirty="0"/>
          </a:p>
        </p:txBody>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685800"/>
          </a:xfrm>
          <a:prstGeom prst="rect">
            <a:avLst/>
          </a:prstGeom>
          <a:noFill/>
          <a:ln/>
        </p:spPr>
        <p:txBody>
          <a:bodyPr wrap="square" rtlCol="0" anchor="ctr"/>
          <a:lstStyle/>
          <a:p>
            <a:pPr marL="0" indent="0" algn="l">
              <a:buNone/>
            </a:pPr>
            <a:r>
              <a:rPr lang="en-US" sz="3200" b="1" dirty="0">
                <a:solidFill>
                  <a:srgbClr val="12395B"/>
                </a:solidFill>
                <a:latin typeface="Cambria" pitchFamily="34" charset="0"/>
                <a:ea typeface="Cambria" pitchFamily="34" charset="-122"/>
                <a:cs typeface="Cambria" pitchFamily="34" charset="-120"/>
              </a:rPr>
              <a:t>Types of Digital Marketing</a:t>
            </a:r>
            <a:endParaRPr lang="en-US" sz="3200" dirty="0"/>
          </a:p>
        </p:txBody>
      </p:sp>
      <p:sp>
        <p:nvSpPr>
          <p:cNvPr id="3" name="Shape 1"/>
          <p:cNvSpPr/>
          <p:nvPr/>
        </p:nvSpPr>
        <p:spPr>
          <a:xfrm>
            <a:off x="0" y="1170432"/>
            <a:ext cx="12188952" cy="18288"/>
          </a:xfrm>
          <a:prstGeom prst="rect">
            <a:avLst/>
          </a:prstGeom>
          <a:solidFill>
            <a:srgbClr val="E3E9EF"/>
          </a:solidFill>
          <a:ln/>
        </p:spPr>
      </p:sp>
      <p:sp>
        <p:nvSpPr>
          <p:cNvPr id="4" name="Shape 2"/>
          <p:cNvSpPr/>
          <p:nvPr/>
        </p:nvSpPr>
        <p:spPr>
          <a:xfrm>
            <a:off x="548640" y="1508760"/>
            <a:ext cx="3514344" cy="2103120"/>
          </a:xfrm>
          <a:prstGeom prst="roundRect">
            <a:avLst>
              <a:gd name="adj" fmla="val 5217"/>
            </a:avLst>
          </a:prstGeom>
          <a:solidFill>
            <a:srgbClr val="EAF3FB"/>
          </a:solidFill>
          <a:ln/>
          <a:effectLst>
            <a:outerShdw blurRad="101600" dist="25400" dir="5400000" algn="bl" rotWithShape="0">
              <a:srgbClr val="8090A0">
                <a:alpha val="18000"/>
              </a:srgbClr>
            </a:outerShdw>
          </a:effectLst>
        </p:spPr>
      </p:sp>
      <p:sp>
        <p:nvSpPr>
          <p:cNvPr id="5" name="Shape 3"/>
          <p:cNvSpPr/>
          <p:nvPr/>
        </p:nvSpPr>
        <p:spPr>
          <a:xfrm>
            <a:off x="749808" y="1709928"/>
            <a:ext cx="566928" cy="566928"/>
          </a:xfrm>
          <a:prstGeom prst="ellipse">
            <a:avLst/>
          </a:prstGeom>
          <a:solidFill>
            <a:srgbClr val="1B6FA8"/>
          </a:solidFill>
          <a:ln/>
          <a:effectLst>
            <a:outerShdw blurRad="76200" dist="25400" dir="5400000" algn="bl" rotWithShape="0">
              <a:srgbClr val="808080">
                <a:alpha val="25000"/>
              </a:srgbClr>
            </a:outerShdw>
          </a:effectLst>
        </p:spPr>
      </p:sp>
      <p:pic>
        <p:nvPicPr>
          <p:cNvPr id="6" name="Image 0" descr="/home/claude/dm_ppt/assets/icons/seo.png"/>
          <p:cNvPicPr>
            <a:picLocks noChangeAspect="1"/>
          </p:cNvPicPr>
          <p:nvPr/>
        </p:nvPicPr>
        <p:blipFill>
          <a:blip r:embed="rId3"/>
          <a:stretch>
            <a:fillRect/>
          </a:stretch>
        </p:blipFill>
        <p:spPr>
          <a:xfrm>
            <a:off x="877367" y="1837487"/>
            <a:ext cx="311810" cy="311810"/>
          </a:xfrm>
          <a:prstGeom prst="rect">
            <a:avLst/>
          </a:prstGeom>
        </p:spPr>
      </p:pic>
      <p:sp>
        <p:nvSpPr>
          <p:cNvPr id="7" name="Text 4"/>
          <p:cNvSpPr/>
          <p:nvPr/>
        </p:nvSpPr>
        <p:spPr>
          <a:xfrm>
            <a:off x="749808" y="2331720"/>
            <a:ext cx="3112008" cy="310896"/>
          </a:xfrm>
          <a:prstGeom prst="rect">
            <a:avLst/>
          </a:prstGeom>
          <a:noFill/>
          <a:ln/>
        </p:spPr>
        <p:txBody>
          <a:bodyPr wrap="square" lIns="0" tIns="0" rIns="0" bIns="0" rtlCol="0" anchor="ctr"/>
          <a:lstStyle/>
          <a:p>
            <a:pPr marL="0" indent="0" algn="l">
              <a:buNone/>
            </a:pPr>
            <a:r>
              <a:rPr lang="en-US" sz="1400" b="1" dirty="0">
                <a:solidFill>
                  <a:srgbClr val="1B2430"/>
                </a:solidFill>
                <a:latin typeface="Calibri" pitchFamily="34" charset="0"/>
                <a:ea typeface="Calibri" pitchFamily="34" charset="-122"/>
                <a:cs typeface="Calibri" pitchFamily="34" charset="-120"/>
              </a:rPr>
              <a:t>SEO</a:t>
            </a:r>
            <a:endParaRPr lang="en-US" sz="1400" dirty="0"/>
          </a:p>
        </p:txBody>
      </p:sp>
      <p:sp>
        <p:nvSpPr>
          <p:cNvPr id="8" name="Text 5"/>
          <p:cNvSpPr/>
          <p:nvPr/>
        </p:nvSpPr>
        <p:spPr>
          <a:xfrm>
            <a:off x="749808" y="2642616"/>
            <a:ext cx="3112008" cy="859536"/>
          </a:xfrm>
          <a:prstGeom prst="rect">
            <a:avLst/>
          </a:prstGeom>
          <a:noFill/>
          <a:ln/>
        </p:spPr>
        <p:txBody>
          <a:bodyPr wrap="square" lIns="0" tIns="0" rIns="0" bIns="0" rtlCol="0" anchor="t"/>
          <a:lstStyle/>
          <a:p>
            <a:pPr marL="0" indent="0" algn="l">
              <a:buNone/>
            </a:pPr>
            <a:r>
              <a:rPr lang="en-US" sz="1100" dirty="0">
                <a:solidFill>
                  <a:srgbClr val="5B6B79"/>
                </a:solidFill>
                <a:latin typeface="Calibri" pitchFamily="34" charset="0"/>
                <a:ea typeface="Calibri" pitchFamily="34" charset="-122"/>
                <a:cs typeface="Calibri" pitchFamily="34" charset="-120"/>
              </a:rPr>
              <a:t>Ranking higher in search results</a:t>
            </a:r>
            <a:endParaRPr lang="en-US" sz="1100" dirty="0"/>
          </a:p>
        </p:txBody>
      </p:sp>
      <p:sp>
        <p:nvSpPr>
          <p:cNvPr id="9" name="Shape 6"/>
          <p:cNvSpPr/>
          <p:nvPr/>
        </p:nvSpPr>
        <p:spPr>
          <a:xfrm>
            <a:off x="4337304" y="1508760"/>
            <a:ext cx="3514344" cy="2103120"/>
          </a:xfrm>
          <a:prstGeom prst="roundRect">
            <a:avLst>
              <a:gd name="adj" fmla="val 5217"/>
            </a:avLst>
          </a:prstGeom>
          <a:solidFill>
            <a:srgbClr val="EAF3FB"/>
          </a:solidFill>
          <a:ln/>
          <a:effectLst>
            <a:outerShdw blurRad="101600" dist="25400" dir="5400000" algn="bl" rotWithShape="0">
              <a:srgbClr val="8090A0">
                <a:alpha val="18000"/>
              </a:srgbClr>
            </a:outerShdw>
          </a:effectLst>
        </p:spPr>
      </p:sp>
      <p:sp>
        <p:nvSpPr>
          <p:cNvPr id="10" name="Shape 7"/>
          <p:cNvSpPr/>
          <p:nvPr/>
        </p:nvSpPr>
        <p:spPr>
          <a:xfrm>
            <a:off x="4538472" y="1709928"/>
            <a:ext cx="566928" cy="566928"/>
          </a:xfrm>
          <a:prstGeom prst="ellipse">
            <a:avLst/>
          </a:prstGeom>
          <a:solidFill>
            <a:srgbClr val="12395B"/>
          </a:solidFill>
          <a:ln/>
          <a:effectLst>
            <a:outerShdw blurRad="76200" dist="25400" dir="5400000" algn="bl" rotWithShape="0">
              <a:srgbClr val="808080">
                <a:alpha val="25000"/>
              </a:srgbClr>
            </a:outerShdw>
          </a:effectLst>
        </p:spPr>
      </p:sp>
      <p:pic>
        <p:nvPicPr>
          <p:cNvPr id="11" name="Image 1" descr="/home/claude/dm_ppt/assets/icons/social.png"/>
          <p:cNvPicPr>
            <a:picLocks noChangeAspect="1"/>
          </p:cNvPicPr>
          <p:nvPr/>
        </p:nvPicPr>
        <p:blipFill>
          <a:blip r:embed="rId4"/>
          <a:stretch>
            <a:fillRect/>
          </a:stretch>
        </p:blipFill>
        <p:spPr>
          <a:xfrm>
            <a:off x="4666031" y="1837487"/>
            <a:ext cx="311810" cy="311810"/>
          </a:xfrm>
          <a:prstGeom prst="rect">
            <a:avLst/>
          </a:prstGeom>
        </p:spPr>
      </p:pic>
      <p:sp>
        <p:nvSpPr>
          <p:cNvPr id="12" name="Text 8"/>
          <p:cNvSpPr/>
          <p:nvPr/>
        </p:nvSpPr>
        <p:spPr>
          <a:xfrm>
            <a:off x="4538472" y="2331720"/>
            <a:ext cx="3112008" cy="310896"/>
          </a:xfrm>
          <a:prstGeom prst="rect">
            <a:avLst/>
          </a:prstGeom>
          <a:noFill/>
          <a:ln/>
        </p:spPr>
        <p:txBody>
          <a:bodyPr wrap="square" lIns="0" tIns="0" rIns="0" bIns="0" rtlCol="0" anchor="ctr"/>
          <a:lstStyle/>
          <a:p>
            <a:pPr marL="0" indent="0" algn="l">
              <a:buNone/>
            </a:pPr>
            <a:r>
              <a:rPr lang="en-US" sz="1400" b="1" dirty="0">
                <a:solidFill>
                  <a:srgbClr val="1B2430"/>
                </a:solidFill>
                <a:latin typeface="Calibri" pitchFamily="34" charset="0"/>
                <a:ea typeface="Calibri" pitchFamily="34" charset="-122"/>
                <a:cs typeface="Calibri" pitchFamily="34" charset="-120"/>
              </a:rPr>
              <a:t>Social Media Marketing</a:t>
            </a:r>
            <a:endParaRPr lang="en-US" sz="1400" dirty="0"/>
          </a:p>
        </p:txBody>
      </p:sp>
      <p:sp>
        <p:nvSpPr>
          <p:cNvPr id="13" name="Text 9"/>
          <p:cNvSpPr/>
          <p:nvPr/>
        </p:nvSpPr>
        <p:spPr>
          <a:xfrm>
            <a:off x="4538472" y="2642616"/>
            <a:ext cx="3112008" cy="859536"/>
          </a:xfrm>
          <a:prstGeom prst="rect">
            <a:avLst/>
          </a:prstGeom>
          <a:noFill/>
          <a:ln/>
        </p:spPr>
        <p:txBody>
          <a:bodyPr wrap="square" lIns="0" tIns="0" rIns="0" bIns="0" rtlCol="0" anchor="t"/>
          <a:lstStyle/>
          <a:p>
            <a:pPr marL="0" indent="0" algn="l">
              <a:buNone/>
            </a:pPr>
            <a:r>
              <a:rPr lang="en-US" sz="1100" dirty="0">
                <a:solidFill>
                  <a:srgbClr val="5B6B79"/>
                </a:solidFill>
                <a:latin typeface="Calibri" pitchFamily="34" charset="0"/>
                <a:ea typeface="Calibri" pitchFamily="34" charset="-122"/>
                <a:cs typeface="Calibri" pitchFamily="34" charset="-120"/>
              </a:rPr>
              <a:t>Promoting through Instagram, Facebook</a:t>
            </a:r>
            <a:endParaRPr lang="en-US" sz="1100" dirty="0"/>
          </a:p>
        </p:txBody>
      </p:sp>
      <p:sp>
        <p:nvSpPr>
          <p:cNvPr id="14" name="Shape 10"/>
          <p:cNvSpPr/>
          <p:nvPr/>
        </p:nvSpPr>
        <p:spPr>
          <a:xfrm>
            <a:off x="8125968" y="1508760"/>
            <a:ext cx="3514344" cy="2103120"/>
          </a:xfrm>
          <a:prstGeom prst="roundRect">
            <a:avLst>
              <a:gd name="adj" fmla="val 5217"/>
            </a:avLst>
          </a:prstGeom>
          <a:solidFill>
            <a:srgbClr val="EAF3FB"/>
          </a:solidFill>
          <a:ln/>
          <a:effectLst>
            <a:outerShdw blurRad="101600" dist="25400" dir="5400000" algn="bl" rotWithShape="0">
              <a:srgbClr val="8090A0">
                <a:alpha val="18000"/>
              </a:srgbClr>
            </a:outerShdw>
          </a:effectLst>
        </p:spPr>
      </p:sp>
      <p:sp>
        <p:nvSpPr>
          <p:cNvPr id="15" name="Shape 11"/>
          <p:cNvSpPr/>
          <p:nvPr/>
        </p:nvSpPr>
        <p:spPr>
          <a:xfrm>
            <a:off x="8327136" y="1709928"/>
            <a:ext cx="566928" cy="566928"/>
          </a:xfrm>
          <a:prstGeom prst="ellipse">
            <a:avLst/>
          </a:prstGeom>
          <a:solidFill>
            <a:srgbClr val="1B6FA8"/>
          </a:solidFill>
          <a:ln/>
          <a:effectLst>
            <a:outerShdw blurRad="76200" dist="25400" dir="5400000" algn="bl" rotWithShape="0">
              <a:srgbClr val="808080">
                <a:alpha val="25000"/>
              </a:srgbClr>
            </a:outerShdw>
          </a:effectLst>
        </p:spPr>
      </p:sp>
      <p:pic>
        <p:nvPicPr>
          <p:cNvPr id="16" name="Image 2" descr="/home/claude/dm_ppt/assets/icons/email.png"/>
          <p:cNvPicPr>
            <a:picLocks noChangeAspect="1"/>
          </p:cNvPicPr>
          <p:nvPr/>
        </p:nvPicPr>
        <p:blipFill>
          <a:blip r:embed="rId5"/>
          <a:stretch>
            <a:fillRect/>
          </a:stretch>
        </p:blipFill>
        <p:spPr>
          <a:xfrm>
            <a:off x="8454695" y="1837487"/>
            <a:ext cx="311810" cy="311810"/>
          </a:xfrm>
          <a:prstGeom prst="rect">
            <a:avLst/>
          </a:prstGeom>
        </p:spPr>
      </p:pic>
      <p:sp>
        <p:nvSpPr>
          <p:cNvPr id="17" name="Text 12"/>
          <p:cNvSpPr/>
          <p:nvPr/>
        </p:nvSpPr>
        <p:spPr>
          <a:xfrm>
            <a:off x="8327136" y="2331720"/>
            <a:ext cx="3112008" cy="310896"/>
          </a:xfrm>
          <a:prstGeom prst="rect">
            <a:avLst/>
          </a:prstGeom>
          <a:noFill/>
          <a:ln/>
        </p:spPr>
        <p:txBody>
          <a:bodyPr wrap="square" lIns="0" tIns="0" rIns="0" bIns="0" rtlCol="0" anchor="ctr"/>
          <a:lstStyle/>
          <a:p>
            <a:pPr marL="0" indent="0" algn="l">
              <a:buNone/>
            </a:pPr>
            <a:r>
              <a:rPr lang="en-US" sz="1400" b="1" dirty="0">
                <a:solidFill>
                  <a:srgbClr val="1B2430"/>
                </a:solidFill>
                <a:latin typeface="Calibri" pitchFamily="34" charset="0"/>
                <a:ea typeface="Calibri" pitchFamily="34" charset="-122"/>
                <a:cs typeface="Calibri" pitchFamily="34" charset="-120"/>
              </a:rPr>
              <a:t>Email Marketing</a:t>
            </a:r>
            <a:endParaRPr lang="en-US" sz="1400" dirty="0"/>
          </a:p>
        </p:txBody>
      </p:sp>
      <p:sp>
        <p:nvSpPr>
          <p:cNvPr id="18" name="Text 13"/>
          <p:cNvSpPr/>
          <p:nvPr/>
        </p:nvSpPr>
        <p:spPr>
          <a:xfrm>
            <a:off x="8327136" y="2642616"/>
            <a:ext cx="3112008" cy="859536"/>
          </a:xfrm>
          <a:prstGeom prst="rect">
            <a:avLst/>
          </a:prstGeom>
          <a:noFill/>
          <a:ln/>
        </p:spPr>
        <p:txBody>
          <a:bodyPr wrap="square" lIns="0" tIns="0" rIns="0" bIns="0" rtlCol="0" anchor="t"/>
          <a:lstStyle/>
          <a:p>
            <a:pPr marL="0" indent="0" algn="l">
              <a:buNone/>
            </a:pPr>
            <a:r>
              <a:rPr lang="en-US" sz="1100" dirty="0">
                <a:solidFill>
                  <a:srgbClr val="5B6B79"/>
                </a:solidFill>
                <a:latin typeface="Calibri" pitchFamily="34" charset="0"/>
                <a:ea typeface="Calibri" pitchFamily="34" charset="-122"/>
                <a:cs typeface="Calibri" pitchFamily="34" charset="-120"/>
              </a:rPr>
              <a:t>Sending offers directly to inbox</a:t>
            </a:r>
            <a:endParaRPr lang="en-US" sz="1100" dirty="0"/>
          </a:p>
        </p:txBody>
      </p:sp>
      <p:sp>
        <p:nvSpPr>
          <p:cNvPr id="19" name="Shape 14"/>
          <p:cNvSpPr/>
          <p:nvPr/>
        </p:nvSpPr>
        <p:spPr>
          <a:xfrm>
            <a:off x="548640" y="3840480"/>
            <a:ext cx="3514344" cy="2103120"/>
          </a:xfrm>
          <a:prstGeom prst="roundRect">
            <a:avLst>
              <a:gd name="adj" fmla="val 5217"/>
            </a:avLst>
          </a:prstGeom>
          <a:solidFill>
            <a:srgbClr val="EAF3FB"/>
          </a:solidFill>
          <a:ln/>
          <a:effectLst>
            <a:outerShdw blurRad="101600" dist="25400" dir="5400000" algn="bl" rotWithShape="0">
              <a:srgbClr val="8090A0">
                <a:alpha val="18000"/>
              </a:srgbClr>
            </a:outerShdw>
          </a:effectLst>
        </p:spPr>
      </p:sp>
      <p:sp>
        <p:nvSpPr>
          <p:cNvPr id="20" name="Shape 15"/>
          <p:cNvSpPr/>
          <p:nvPr/>
        </p:nvSpPr>
        <p:spPr>
          <a:xfrm>
            <a:off x="749808" y="4041648"/>
            <a:ext cx="566928" cy="566928"/>
          </a:xfrm>
          <a:prstGeom prst="ellipse">
            <a:avLst/>
          </a:prstGeom>
          <a:solidFill>
            <a:srgbClr val="12395B"/>
          </a:solidFill>
          <a:ln/>
          <a:effectLst>
            <a:outerShdw blurRad="76200" dist="25400" dir="5400000" algn="bl" rotWithShape="0">
              <a:srgbClr val="808080">
                <a:alpha val="25000"/>
              </a:srgbClr>
            </a:outerShdw>
          </a:effectLst>
        </p:spPr>
      </p:sp>
      <p:pic>
        <p:nvPicPr>
          <p:cNvPr id="21" name="Image 3" descr="/home/claude/dm_ppt/assets/icons/content.png"/>
          <p:cNvPicPr>
            <a:picLocks noChangeAspect="1"/>
          </p:cNvPicPr>
          <p:nvPr/>
        </p:nvPicPr>
        <p:blipFill>
          <a:blip r:embed="rId6"/>
          <a:stretch>
            <a:fillRect/>
          </a:stretch>
        </p:blipFill>
        <p:spPr>
          <a:xfrm>
            <a:off x="877367" y="4169207"/>
            <a:ext cx="311810" cy="311810"/>
          </a:xfrm>
          <a:prstGeom prst="rect">
            <a:avLst/>
          </a:prstGeom>
        </p:spPr>
      </p:pic>
      <p:sp>
        <p:nvSpPr>
          <p:cNvPr id="22" name="Text 16"/>
          <p:cNvSpPr/>
          <p:nvPr/>
        </p:nvSpPr>
        <p:spPr>
          <a:xfrm>
            <a:off x="749808" y="4663440"/>
            <a:ext cx="3112008" cy="310896"/>
          </a:xfrm>
          <a:prstGeom prst="rect">
            <a:avLst/>
          </a:prstGeom>
          <a:noFill/>
          <a:ln/>
        </p:spPr>
        <p:txBody>
          <a:bodyPr wrap="square" lIns="0" tIns="0" rIns="0" bIns="0" rtlCol="0" anchor="ctr"/>
          <a:lstStyle/>
          <a:p>
            <a:pPr marL="0" indent="0" algn="l">
              <a:buNone/>
            </a:pPr>
            <a:r>
              <a:rPr lang="en-US" sz="1400" b="1" dirty="0">
                <a:solidFill>
                  <a:srgbClr val="1B2430"/>
                </a:solidFill>
                <a:latin typeface="Calibri" pitchFamily="34" charset="0"/>
                <a:ea typeface="Calibri" pitchFamily="34" charset="-122"/>
                <a:cs typeface="Calibri" pitchFamily="34" charset="-120"/>
              </a:rPr>
              <a:t>Content Marketing</a:t>
            </a:r>
            <a:endParaRPr lang="en-US" sz="1400" dirty="0"/>
          </a:p>
        </p:txBody>
      </p:sp>
      <p:sp>
        <p:nvSpPr>
          <p:cNvPr id="23" name="Text 17"/>
          <p:cNvSpPr/>
          <p:nvPr/>
        </p:nvSpPr>
        <p:spPr>
          <a:xfrm>
            <a:off x="749808" y="4974336"/>
            <a:ext cx="3112008" cy="859536"/>
          </a:xfrm>
          <a:prstGeom prst="rect">
            <a:avLst/>
          </a:prstGeom>
          <a:noFill/>
          <a:ln/>
        </p:spPr>
        <p:txBody>
          <a:bodyPr wrap="square" lIns="0" tIns="0" rIns="0" bIns="0" rtlCol="0" anchor="t"/>
          <a:lstStyle/>
          <a:p>
            <a:pPr marL="0" indent="0" algn="l">
              <a:buNone/>
            </a:pPr>
            <a:r>
              <a:rPr lang="en-US" sz="1100" dirty="0">
                <a:solidFill>
                  <a:srgbClr val="5B6B79"/>
                </a:solidFill>
                <a:latin typeface="Calibri" pitchFamily="34" charset="0"/>
                <a:ea typeface="Calibri" pitchFamily="34" charset="-122"/>
                <a:cs typeface="Calibri" pitchFamily="34" charset="-120"/>
              </a:rPr>
              <a:t>Blogs, videos and useful posts</a:t>
            </a:r>
            <a:endParaRPr lang="en-US" sz="1100" dirty="0"/>
          </a:p>
        </p:txBody>
      </p:sp>
      <p:sp>
        <p:nvSpPr>
          <p:cNvPr id="24" name="Shape 18"/>
          <p:cNvSpPr/>
          <p:nvPr/>
        </p:nvSpPr>
        <p:spPr>
          <a:xfrm>
            <a:off x="4337304" y="3840480"/>
            <a:ext cx="3514344" cy="2103120"/>
          </a:xfrm>
          <a:prstGeom prst="roundRect">
            <a:avLst>
              <a:gd name="adj" fmla="val 5217"/>
            </a:avLst>
          </a:prstGeom>
          <a:solidFill>
            <a:srgbClr val="EAF3FB"/>
          </a:solidFill>
          <a:ln/>
          <a:effectLst>
            <a:outerShdw blurRad="101600" dist="25400" dir="5400000" algn="bl" rotWithShape="0">
              <a:srgbClr val="8090A0">
                <a:alpha val="18000"/>
              </a:srgbClr>
            </a:outerShdw>
          </a:effectLst>
        </p:spPr>
      </p:sp>
      <p:sp>
        <p:nvSpPr>
          <p:cNvPr id="25" name="Shape 19"/>
          <p:cNvSpPr/>
          <p:nvPr/>
        </p:nvSpPr>
        <p:spPr>
          <a:xfrm>
            <a:off x="4538472" y="4041648"/>
            <a:ext cx="566928" cy="566928"/>
          </a:xfrm>
          <a:prstGeom prst="ellipse">
            <a:avLst/>
          </a:prstGeom>
          <a:solidFill>
            <a:srgbClr val="1B6FA8"/>
          </a:solidFill>
          <a:ln/>
          <a:effectLst>
            <a:outerShdw blurRad="76200" dist="25400" dir="5400000" algn="bl" rotWithShape="0">
              <a:srgbClr val="808080">
                <a:alpha val="25000"/>
              </a:srgbClr>
            </a:outerShdw>
          </a:effectLst>
        </p:spPr>
      </p:sp>
      <p:pic>
        <p:nvPicPr>
          <p:cNvPr id="26" name="Image 4" descr="/home/claude/dm_ppt/assets/icons/ppc.png"/>
          <p:cNvPicPr>
            <a:picLocks noChangeAspect="1"/>
          </p:cNvPicPr>
          <p:nvPr/>
        </p:nvPicPr>
        <p:blipFill>
          <a:blip r:embed="rId7"/>
          <a:stretch>
            <a:fillRect/>
          </a:stretch>
        </p:blipFill>
        <p:spPr>
          <a:xfrm>
            <a:off x="4666031" y="4169207"/>
            <a:ext cx="311810" cy="311810"/>
          </a:xfrm>
          <a:prstGeom prst="rect">
            <a:avLst/>
          </a:prstGeom>
        </p:spPr>
      </p:pic>
      <p:sp>
        <p:nvSpPr>
          <p:cNvPr id="27" name="Text 20"/>
          <p:cNvSpPr/>
          <p:nvPr/>
        </p:nvSpPr>
        <p:spPr>
          <a:xfrm>
            <a:off x="4538472" y="4663440"/>
            <a:ext cx="3112008" cy="310896"/>
          </a:xfrm>
          <a:prstGeom prst="rect">
            <a:avLst/>
          </a:prstGeom>
          <a:noFill/>
          <a:ln/>
        </p:spPr>
        <p:txBody>
          <a:bodyPr wrap="square" lIns="0" tIns="0" rIns="0" bIns="0" rtlCol="0" anchor="ctr"/>
          <a:lstStyle/>
          <a:p>
            <a:pPr marL="0" indent="0" algn="l">
              <a:buNone/>
            </a:pPr>
            <a:r>
              <a:rPr lang="en-US" sz="1400" b="1" dirty="0">
                <a:solidFill>
                  <a:srgbClr val="1B2430"/>
                </a:solidFill>
                <a:latin typeface="Calibri" pitchFamily="34" charset="0"/>
                <a:ea typeface="Calibri" pitchFamily="34" charset="-122"/>
                <a:cs typeface="Calibri" pitchFamily="34" charset="-120"/>
              </a:rPr>
              <a:t>PPC Advertising</a:t>
            </a:r>
            <a:endParaRPr lang="en-US" sz="1400" dirty="0"/>
          </a:p>
        </p:txBody>
      </p:sp>
      <p:sp>
        <p:nvSpPr>
          <p:cNvPr id="28" name="Text 21"/>
          <p:cNvSpPr/>
          <p:nvPr/>
        </p:nvSpPr>
        <p:spPr>
          <a:xfrm>
            <a:off x="4538472" y="4974336"/>
            <a:ext cx="3112008" cy="859536"/>
          </a:xfrm>
          <a:prstGeom prst="rect">
            <a:avLst/>
          </a:prstGeom>
          <a:noFill/>
          <a:ln/>
        </p:spPr>
        <p:txBody>
          <a:bodyPr wrap="square" lIns="0" tIns="0" rIns="0" bIns="0" rtlCol="0" anchor="t"/>
          <a:lstStyle/>
          <a:p>
            <a:pPr marL="0" indent="0" algn="l">
              <a:buNone/>
            </a:pPr>
            <a:r>
              <a:rPr lang="en-US" sz="1100" dirty="0">
                <a:solidFill>
                  <a:srgbClr val="5B6B79"/>
                </a:solidFill>
                <a:latin typeface="Calibri" pitchFamily="34" charset="0"/>
                <a:ea typeface="Calibri" pitchFamily="34" charset="-122"/>
                <a:cs typeface="Calibri" pitchFamily="34" charset="-120"/>
              </a:rPr>
              <a:t>Paid ads, pay only per click</a:t>
            </a:r>
            <a:endParaRPr lang="en-US" sz="1100" dirty="0"/>
          </a:p>
        </p:txBody>
      </p:sp>
      <p:sp>
        <p:nvSpPr>
          <p:cNvPr id="29" name="Shape 22"/>
          <p:cNvSpPr/>
          <p:nvPr/>
        </p:nvSpPr>
        <p:spPr>
          <a:xfrm>
            <a:off x="8125968" y="3840480"/>
            <a:ext cx="3514344" cy="2103120"/>
          </a:xfrm>
          <a:prstGeom prst="roundRect">
            <a:avLst>
              <a:gd name="adj" fmla="val 5217"/>
            </a:avLst>
          </a:prstGeom>
          <a:solidFill>
            <a:srgbClr val="EAF3FB"/>
          </a:solidFill>
          <a:ln/>
          <a:effectLst>
            <a:outerShdw blurRad="101600" dist="25400" dir="5400000" algn="bl" rotWithShape="0">
              <a:srgbClr val="8090A0">
                <a:alpha val="18000"/>
              </a:srgbClr>
            </a:outerShdw>
          </a:effectLst>
        </p:spPr>
      </p:sp>
      <p:sp>
        <p:nvSpPr>
          <p:cNvPr id="30" name="Shape 23"/>
          <p:cNvSpPr/>
          <p:nvPr/>
        </p:nvSpPr>
        <p:spPr>
          <a:xfrm>
            <a:off x="8327136" y="4041648"/>
            <a:ext cx="566928" cy="566928"/>
          </a:xfrm>
          <a:prstGeom prst="ellipse">
            <a:avLst/>
          </a:prstGeom>
          <a:solidFill>
            <a:srgbClr val="12395B"/>
          </a:solidFill>
          <a:ln/>
          <a:effectLst>
            <a:outerShdw blurRad="76200" dist="25400" dir="5400000" algn="bl" rotWithShape="0">
              <a:srgbClr val="808080">
                <a:alpha val="25000"/>
              </a:srgbClr>
            </a:outerShdw>
          </a:effectLst>
        </p:spPr>
      </p:sp>
      <p:pic>
        <p:nvPicPr>
          <p:cNvPr id="31" name="Image 5" descr="/home/claude/dm_ppt/assets/icons/affiliate.png"/>
          <p:cNvPicPr>
            <a:picLocks noChangeAspect="1"/>
          </p:cNvPicPr>
          <p:nvPr/>
        </p:nvPicPr>
        <p:blipFill>
          <a:blip r:embed="rId8"/>
          <a:stretch>
            <a:fillRect/>
          </a:stretch>
        </p:blipFill>
        <p:spPr>
          <a:xfrm>
            <a:off x="8454695" y="4169207"/>
            <a:ext cx="311810" cy="311810"/>
          </a:xfrm>
          <a:prstGeom prst="rect">
            <a:avLst/>
          </a:prstGeom>
        </p:spPr>
      </p:pic>
      <p:sp>
        <p:nvSpPr>
          <p:cNvPr id="32" name="Text 24"/>
          <p:cNvSpPr/>
          <p:nvPr/>
        </p:nvSpPr>
        <p:spPr>
          <a:xfrm>
            <a:off x="8327136" y="4663440"/>
            <a:ext cx="3112008" cy="310896"/>
          </a:xfrm>
          <a:prstGeom prst="rect">
            <a:avLst/>
          </a:prstGeom>
          <a:noFill/>
          <a:ln/>
        </p:spPr>
        <p:txBody>
          <a:bodyPr wrap="square" lIns="0" tIns="0" rIns="0" bIns="0" rtlCol="0" anchor="ctr"/>
          <a:lstStyle/>
          <a:p>
            <a:pPr marL="0" indent="0" algn="l">
              <a:buNone/>
            </a:pPr>
            <a:r>
              <a:rPr lang="en-US" sz="1400" b="1" dirty="0">
                <a:solidFill>
                  <a:srgbClr val="1B2430"/>
                </a:solidFill>
                <a:latin typeface="Calibri" pitchFamily="34" charset="0"/>
                <a:ea typeface="Calibri" pitchFamily="34" charset="-122"/>
                <a:cs typeface="Calibri" pitchFamily="34" charset="-120"/>
              </a:rPr>
              <a:t>Affiliate Marketing</a:t>
            </a:r>
            <a:endParaRPr lang="en-US" sz="1400" dirty="0"/>
          </a:p>
        </p:txBody>
      </p:sp>
      <p:sp>
        <p:nvSpPr>
          <p:cNvPr id="33" name="Text 25"/>
          <p:cNvSpPr/>
          <p:nvPr/>
        </p:nvSpPr>
        <p:spPr>
          <a:xfrm>
            <a:off x="8327136" y="4974336"/>
            <a:ext cx="3112008" cy="859536"/>
          </a:xfrm>
          <a:prstGeom prst="rect">
            <a:avLst/>
          </a:prstGeom>
          <a:noFill/>
          <a:ln/>
        </p:spPr>
        <p:txBody>
          <a:bodyPr wrap="square" lIns="0" tIns="0" rIns="0" bIns="0" rtlCol="0" anchor="t"/>
          <a:lstStyle/>
          <a:p>
            <a:pPr marL="0" indent="0" algn="l">
              <a:buNone/>
            </a:pPr>
            <a:r>
              <a:rPr lang="en-US" sz="1100" dirty="0">
                <a:solidFill>
                  <a:srgbClr val="5B6B79"/>
                </a:solidFill>
                <a:latin typeface="Calibri" pitchFamily="34" charset="0"/>
                <a:ea typeface="Calibri" pitchFamily="34" charset="-122"/>
                <a:cs typeface="Calibri" pitchFamily="34" charset="-120"/>
              </a:rPr>
              <a:t>Others promote and earn commission</a:t>
            </a:r>
            <a:endParaRPr lang="en-US" sz="1100" dirty="0"/>
          </a:p>
        </p:txBody>
      </p:sp>
      <p:sp>
        <p:nvSpPr>
          <p:cNvPr id="34" name="Text 26"/>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J.B.S.P. Sanstha's College, Panvel</a:t>
            </a:r>
            <a:endParaRPr lang="en-US" sz="900" dirty="0"/>
          </a:p>
        </p:txBody>
      </p:sp>
      <p:sp>
        <p:nvSpPr>
          <p:cNvPr id="35" name="Text 27"/>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3</a:t>
            </a:r>
            <a:endParaRPr lang="en-US" sz="900" dirty="0"/>
          </a:p>
        </p:txBody>
      </p:sp>
    </p:spTree>
  </p:cSld>
  <p:clrMapOvr>
    <a:masterClrMapping/>
  </p:clrMapOvr>
  <p:transition>
    <p:wip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685800"/>
          </a:xfrm>
          <a:prstGeom prst="rect">
            <a:avLst/>
          </a:prstGeom>
          <a:noFill/>
          <a:ln/>
        </p:spPr>
        <p:txBody>
          <a:bodyPr wrap="square" rtlCol="0" anchor="ctr"/>
          <a:lstStyle/>
          <a:p>
            <a:pPr marL="0" indent="0" algn="l">
              <a:buNone/>
            </a:pPr>
            <a:r>
              <a:rPr lang="en-US" sz="3200" b="1" dirty="0">
                <a:solidFill>
                  <a:srgbClr val="12395B"/>
                </a:solidFill>
                <a:latin typeface="Cambria" pitchFamily="34" charset="0"/>
                <a:ea typeface="Cambria" pitchFamily="34" charset="-122"/>
                <a:cs typeface="Cambria" pitchFamily="34" charset="-120"/>
              </a:rPr>
              <a:t>Popular Digital Marketing Platforms</a:t>
            </a:r>
            <a:endParaRPr lang="en-US" sz="3200" dirty="0"/>
          </a:p>
        </p:txBody>
      </p:sp>
      <p:sp>
        <p:nvSpPr>
          <p:cNvPr id="3" name="Shape 1"/>
          <p:cNvSpPr/>
          <p:nvPr/>
        </p:nvSpPr>
        <p:spPr>
          <a:xfrm>
            <a:off x="0" y="1170432"/>
            <a:ext cx="12188952" cy="18288"/>
          </a:xfrm>
          <a:prstGeom prst="rect">
            <a:avLst/>
          </a:prstGeom>
          <a:solidFill>
            <a:srgbClr val="E3E9EF"/>
          </a:solidFill>
          <a:ln/>
        </p:spPr>
      </p:sp>
      <p:sp>
        <p:nvSpPr>
          <p:cNvPr id="4" name="Shape 2"/>
          <p:cNvSpPr/>
          <p:nvPr/>
        </p:nvSpPr>
        <p:spPr>
          <a:xfrm>
            <a:off x="548640" y="1508760"/>
            <a:ext cx="3514344" cy="2103120"/>
          </a:xfrm>
          <a:prstGeom prst="roundRect">
            <a:avLst>
              <a:gd name="adj" fmla="val 5217"/>
            </a:avLst>
          </a:prstGeom>
          <a:solidFill>
            <a:srgbClr val="EAF3FB"/>
          </a:solidFill>
          <a:ln/>
          <a:effectLst>
            <a:outerShdw blurRad="101600" dist="25400" dir="5400000" algn="bl" rotWithShape="0">
              <a:srgbClr val="8090A0">
                <a:alpha val="18000"/>
              </a:srgbClr>
            </a:outerShdw>
          </a:effectLst>
        </p:spPr>
      </p:sp>
      <p:sp>
        <p:nvSpPr>
          <p:cNvPr id="5" name="Shape 3"/>
          <p:cNvSpPr/>
          <p:nvPr/>
        </p:nvSpPr>
        <p:spPr>
          <a:xfrm>
            <a:off x="749808" y="1709928"/>
            <a:ext cx="566928" cy="566928"/>
          </a:xfrm>
          <a:prstGeom prst="ellipse">
            <a:avLst/>
          </a:prstGeom>
          <a:solidFill>
            <a:srgbClr val="FFFFFF"/>
          </a:solidFill>
          <a:ln/>
          <a:effectLst>
            <a:outerShdw blurRad="76200" dist="25400" dir="5400000" algn="bl" rotWithShape="0">
              <a:srgbClr val="808080">
                <a:alpha val="25000"/>
              </a:srgbClr>
            </a:outerShdw>
          </a:effectLst>
        </p:spPr>
      </p:sp>
      <p:pic>
        <p:nvPicPr>
          <p:cNvPr id="6" name="Image 0" descr="/home/claude/dm_ppt/assets/icons/google.png"/>
          <p:cNvPicPr>
            <a:picLocks noChangeAspect="1"/>
          </p:cNvPicPr>
          <p:nvPr/>
        </p:nvPicPr>
        <p:blipFill>
          <a:blip r:embed="rId3"/>
          <a:stretch>
            <a:fillRect/>
          </a:stretch>
        </p:blipFill>
        <p:spPr>
          <a:xfrm>
            <a:off x="877367" y="1837487"/>
            <a:ext cx="311810" cy="311810"/>
          </a:xfrm>
          <a:prstGeom prst="rect">
            <a:avLst/>
          </a:prstGeom>
        </p:spPr>
      </p:pic>
      <p:sp>
        <p:nvSpPr>
          <p:cNvPr id="7" name="Text 4"/>
          <p:cNvSpPr/>
          <p:nvPr/>
        </p:nvSpPr>
        <p:spPr>
          <a:xfrm>
            <a:off x="749808" y="2331720"/>
            <a:ext cx="3112008" cy="310896"/>
          </a:xfrm>
          <a:prstGeom prst="rect">
            <a:avLst/>
          </a:prstGeom>
          <a:noFill/>
          <a:ln/>
        </p:spPr>
        <p:txBody>
          <a:bodyPr wrap="square" lIns="0" tIns="0" rIns="0" bIns="0" rtlCol="0" anchor="ctr"/>
          <a:lstStyle/>
          <a:p>
            <a:pPr marL="0" indent="0" algn="l">
              <a:buNone/>
            </a:pPr>
            <a:r>
              <a:rPr lang="en-US" sz="1400" b="1" dirty="0">
                <a:solidFill>
                  <a:srgbClr val="1B2430"/>
                </a:solidFill>
                <a:latin typeface="Calibri" pitchFamily="34" charset="0"/>
                <a:ea typeface="Calibri" pitchFamily="34" charset="-122"/>
                <a:cs typeface="Calibri" pitchFamily="34" charset="-120"/>
              </a:rPr>
              <a:t>Google</a:t>
            </a:r>
            <a:endParaRPr lang="en-US" sz="1400" dirty="0"/>
          </a:p>
        </p:txBody>
      </p:sp>
      <p:sp>
        <p:nvSpPr>
          <p:cNvPr id="8" name="Text 5"/>
          <p:cNvSpPr/>
          <p:nvPr/>
        </p:nvSpPr>
        <p:spPr>
          <a:xfrm>
            <a:off x="749808" y="2642616"/>
            <a:ext cx="3112008" cy="859536"/>
          </a:xfrm>
          <a:prstGeom prst="rect">
            <a:avLst/>
          </a:prstGeom>
          <a:noFill/>
          <a:ln/>
        </p:spPr>
        <p:txBody>
          <a:bodyPr wrap="square" lIns="0" tIns="0" rIns="0" bIns="0" rtlCol="0" anchor="t"/>
          <a:lstStyle/>
          <a:p>
            <a:pPr marL="0" indent="0" algn="l">
              <a:buNone/>
            </a:pPr>
            <a:r>
              <a:rPr lang="en-US" sz="1100" dirty="0">
                <a:solidFill>
                  <a:srgbClr val="5B6B79"/>
                </a:solidFill>
                <a:latin typeface="Calibri" pitchFamily="34" charset="0"/>
                <a:ea typeface="Calibri" pitchFamily="34" charset="-122"/>
                <a:cs typeface="Calibri" pitchFamily="34" charset="-120"/>
              </a:rPr>
              <a:t>Search ads reach active buyers</a:t>
            </a:r>
            <a:endParaRPr lang="en-US" sz="1100" dirty="0"/>
          </a:p>
        </p:txBody>
      </p:sp>
      <p:sp>
        <p:nvSpPr>
          <p:cNvPr id="9" name="Shape 6"/>
          <p:cNvSpPr/>
          <p:nvPr/>
        </p:nvSpPr>
        <p:spPr>
          <a:xfrm>
            <a:off x="4337304" y="1508760"/>
            <a:ext cx="3514344" cy="2103120"/>
          </a:xfrm>
          <a:prstGeom prst="roundRect">
            <a:avLst>
              <a:gd name="adj" fmla="val 5217"/>
            </a:avLst>
          </a:prstGeom>
          <a:solidFill>
            <a:srgbClr val="EAF3FB"/>
          </a:solidFill>
          <a:ln/>
          <a:effectLst>
            <a:outerShdw blurRad="101600" dist="25400" dir="5400000" algn="bl" rotWithShape="0">
              <a:srgbClr val="8090A0">
                <a:alpha val="18000"/>
              </a:srgbClr>
            </a:outerShdw>
          </a:effectLst>
        </p:spPr>
      </p:sp>
      <p:sp>
        <p:nvSpPr>
          <p:cNvPr id="10" name="Shape 7"/>
          <p:cNvSpPr/>
          <p:nvPr/>
        </p:nvSpPr>
        <p:spPr>
          <a:xfrm>
            <a:off x="4538472" y="1709928"/>
            <a:ext cx="566928" cy="566928"/>
          </a:xfrm>
          <a:prstGeom prst="ellipse">
            <a:avLst/>
          </a:prstGeom>
          <a:solidFill>
            <a:srgbClr val="FFFFFF"/>
          </a:solidFill>
          <a:ln/>
          <a:effectLst>
            <a:outerShdw blurRad="76200" dist="25400" dir="5400000" algn="bl" rotWithShape="0">
              <a:srgbClr val="808080">
                <a:alpha val="25000"/>
              </a:srgbClr>
            </a:outerShdw>
          </a:effectLst>
        </p:spPr>
      </p:sp>
      <p:pic>
        <p:nvPicPr>
          <p:cNvPr id="11" name="Image 1" descr="/home/claude/dm_ppt/assets/icons/facebook.png"/>
          <p:cNvPicPr>
            <a:picLocks noChangeAspect="1"/>
          </p:cNvPicPr>
          <p:nvPr/>
        </p:nvPicPr>
        <p:blipFill>
          <a:blip r:embed="rId4"/>
          <a:stretch>
            <a:fillRect/>
          </a:stretch>
        </p:blipFill>
        <p:spPr>
          <a:xfrm>
            <a:off x="4666031" y="1837487"/>
            <a:ext cx="311810" cy="311810"/>
          </a:xfrm>
          <a:prstGeom prst="rect">
            <a:avLst/>
          </a:prstGeom>
        </p:spPr>
      </p:pic>
      <p:sp>
        <p:nvSpPr>
          <p:cNvPr id="12" name="Text 8"/>
          <p:cNvSpPr/>
          <p:nvPr/>
        </p:nvSpPr>
        <p:spPr>
          <a:xfrm>
            <a:off x="4538472" y="2331720"/>
            <a:ext cx="3112008" cy="310896"/>
          </a:xfrm>
          <a:prstGeom prst="rect">
            <a:avLst/>
          </a:prstGeom>
          <a:noFill/>
          <a:ln/>
        </p:spPr>
        <p:txBody>
          <a:bodyPr wrap="square" lIns="0" tIns="0" rIns="0" bIns="0" rtlCol="0" anchor="ctr"/>
          <a:lstStyle/>
          <a:p>
            <a:pPr marL="0" indent="0" algn="l">
              <a:buNone/>
            </a:pPr>
            <a:r>
              <a:rPr lang="en-US" sz="1400" b="1" dirty="0">
                <a:solidFill>
                  <a:srgbClr val="1B2430"/>
                </a:solidFill>
                <a:latin typeface="Calibri" pitchFamily="34" charset="0"/>
                <a:ea typeface="Calibri" pitchFamily="34" charset="-122"/>
                <a:cs typeface="Calibri" pitchFamily="34" charset="-120"/>
              </a:rPr>
              <a:t>Facebook</a:t>
            </a:r>
            <a:endParaRPr lang="en-US" sz="1400" dirty="0"/>
          </a:p>
        </p:txBody>
      </p:sp>
      <p:sp>
        <p:nvSpPr>
          <p:cNvPr id="13" name="Text 9"/>
          <p:cNvSpPr/>
          <p:nvPr/>
        </p:nvSpPr>
        <p:spPr>
          <a:xfrm>
            <a:off x="4538472" y="2642616"/>
            <a:ext cx="3112008" cy="859536"/>
          </a:xfrm>
          <a:prstGeom prst="rect">
            <a:avLst/>
          </a:prstGeom>
          <a:noFill/>
          <a:ln/>
        </p:spPr>
        <p:txBody>
          <a:bodyPr wrap="square" lIns="0" tIns="0" rIns="0" bIns="0" rtlCol="0" anchor="t"/>
          <a:lstStyle/>
          <a:p>
            <a:pPr marL="0" indent="0" algn="l">
              <a:buNone/>
            </a:pPr>
            <a:r>
              <a:rPr lang="en-US" sz="1100" dirty="0">
                <a:solidFill>
                  <a:srgbClr val="5B6B79"/>
                </a:solidFill>
                <a:latin typeface="Calibri" pitchFamily="34" charset="0"/>
                <a:ea typeface="Calibri" pitchFamily="34" charset="-122"/>
                <a:cs typeface="Calibri" pitchFamily="34" charset="-120"/>
              </a:rPr>
              <a:t>Wide audience, detailed targeting options</a:t>
            </a:r>
            <a:endParaRPr lang="en-US" sz="1100" dirty="0"/>
          </a:p>
        </p:txBody>
      </p:sp>
      <p:sp>
        <p:nvSpPr>
          <p:cNvPr id="14" name="Shape 10"/>
          <p:cNvSpPr/>
          <p:nvPr/>
        </p:nvSpPr>
        <p:spPr>
          <a:xfrm>
            <a:off x="8125968" y="1508760"/>
            <a:ext cx="3514344" cy="2103120"/>
          </a:xfrm>
          <a:prstGeom prst="roundRect">
            <a:avLst>
              <a:gd name="adj" fmla="val 5217"/>
            </a:avLst>
          </a:prstGeom>
          <a:solidFill>
            <a:srgbClr val="EAF3FB"/>
          </a:solidFill>
          <a:ln/>
          <a:effectLst>
            <a:outerShdw blurRad="101600" dist="25400" dir="5400000" algn="bl" rotWithShape="0">
              <a:srgbClr val="8090A0">
                <a:alpha val="18000"/>
              </a:srgbClr>
            </a:outerShdw>
          </a:effectLst>
        </p:spPr>
      </p:sp>
      <p:sp>
        <p:nvSpPr>
          <p:cNvPr id="15" name="Shape 11"/>
          <p:cNvSpPr/>
          <p:nvPr/>
        </p:nvSpPr>
        <p:spPr>
          <a:xfrm>
            <a:off x="8327136" y="1709928"/>
            <a:ext cx="566928" cy="566928"/>
          </a:xfrm>
          <a:prstGeom prst="ellipse">
            <a:avLst/>
          </a:prstGeom>
          <a:solidFill>
            <a:srgbClr val="FFFFFF"/>
          </a:solidFill>
          <a:ln/>
          <a:effectLst>
            <a:outerShdw blurRad="76200" dist="25400" dir="5400000" algn="bl" rotWithShape="0">
              <a:srgbClr val="808080">
                <a:alpha val="25000"/>
              </a:srgbClr>
            </a:outerShdw>
          </a:effectLst>
        </p:spPr>
      </p:sp>
      <p:pic>
        <p:nvPicPr>
          <p:cNvPr id="16" name="Image 2" descr="/home/claude/dm_ppt/assets/icons/instagram.png"/>
          <p:cNvPicPr>
            <a:picLocks noChangeAspect="1"/>
          </p:cNvPicPr>
          <p:nvPr/>
        </p:nvPicPr>
        <p:blipFill>
          <a:blip r:embed="rId5"/>
          <a:stretch>
            <a:fillRect/>
          </a:stretch>
        </p:blipFill>
        <p:spPr>
          <a:xfrm>
            <a:off x="8454695" y="1837487"/>
            <a:ext cx="311810" cy="311810"/>
          </a:xfrm>
          <a:prstGeom prst="rect">
            <a:avLst/>
          </a:prstGeom>
        </p:spPr>
      </p:pic>
      <p:sp>
        <p:nvSpPr>
          <p:cNvPr id="17" name="Text 12"/>
          <p:cNvSpPr/>
          <p:nvPr/>
        </p:nvSpPr>
        <p:spPr>
          <a:xfrm>
            <a:off x="8327136" y="2331720"/>
            <a:ext cx="3112008" cy="310896"/>
          </a:xfrm>
          <a:prstGeom prst="rect">
            <a:avLst/>
          </a:prstGeom>
          <a:noFill/>
          <a:ln/>
        </p:spPr>
        <p:txBody>
          <a:bodyPr wrap="square" lIns="0" tIns="0" rIns="0" bIns="0" rtlCol="0" anchor="ctr"/>
          <a:lstStyle/>
          <a:p>
            <a:pPr marL="0" indent="0" algn="l">
              <a:buNone/>
            </a:pPr>
            <a:r>
              <a:rPr lang="en-US" sz="1400" b="1" dirty="0">
                <a:solidFill>
                  <a:srgbClr val="1B2430"/>
                </a:solidFill>
                <a:latin typeface="Calibri" pitchFamily="34" charset="0"/>
                <a:ea typeface="Calibri" pitchFamily="34" charset="-122"/>
                <a:cs typeface="Calibri" pitchFamily="34" charset="-120"/>
              </a:rPr>
              <a:t>Instagram</a:t>
            </a:r>
            <a:endParaRPr lang="en-US" sz="1400" dirty="0"/>
          </a:p>
        </p:txBody>
      </p:sp>
      <p:sp>
        <p:nvSpPr>
          <p:cNvPr id="18" name="Text 13"/>
          <p:cNvSpPr/>
          <p:nvPr/>
        </p:nvSpPr>
        <p:spPr>
          <a:xfrm>
            <a:off x="8327136" y="2642616"/>
            <a:ext cx="3112008" cy="859536"/>
          </a:xfrm>
          <a:prstGeom prst="rect">
            <a:avLst/>
          </a:prstGeom>
          <a:noFill/>
          <a:ln/>
        </p:spPr>
        <p:txBody>
          <a:bodyPr wrap="square" lIns="0" tIns="0" rIns="0" bIns="0" rtlCol="0" anchor="t"/>
          <a:lstStyle/>
          <a:p>
            <a:pPr marL="0" indent="0" algn="l">
              <a:buNone/>
            </a:pPr>
            <a:r>
              <a:rPr lang="en-US" sz="1100" dirty="0">
                <a:solidFill>
                  <a:srgbClr val="5B6B79"/>
                </a:solidFill>
                <a:latin typeface="Calibri" pitchFamily="34" charset="0"/>
                <a:ea typeface="Calibri" pitchFamily="34" charset="-122"/>
                <a:cs typeface="Calibri" pitchFamily="34" charset="-120"/>
              </a:rPr>
              <a:t>Visual promotion through reels, stories</a:t>
            </a:r>
            <a:endParaRPr lang="en-US" sz="1100" dirty="0"/>
          </a:p>
        </p:txBody>
      </p:sp>
      <p:sp>
        <p:nvSpPr>
          <p:cNvPr id="19" name="Shape 14"/>
          <p:cNvSpPr/>
          <p:nvPr/>
        </p:nvSpPr>
        <p:spPr>
          <a:xfrm>
            <a:off x="548640" y="3840480"/>
            <a:ext cx="3514344" cy="2103120"/>
          </a:xfrm>
          <a:prstGeom prst="roundRect">
            <a:avLst>
              <a:gd name="adj" fmla="val 5217"/>
            </a:avLst>
          </a:prstGeom>
          <a:solidFill>
            <a:srgbClr val="EAF3FB"/>
          </a:solidFill>
          <a:ln/>
          <a:effectLst>
            <a:outerShdw blurRad="101600" dist="25400" dir="5400000" algn="bl" rotWithShape="0">
              <a:srgbClr val="8090A0">
                <a:alpha val="18000"/>
              </a:srgbClr>
            </a:outerShdw>
          </a:effectLst>
        </p:spPr>
      </p:sp>
      <p:sp>
        <p:nvSpPr>
          <p:cNvPr id="20" name="Shape 15"/>
          <p:cNvSpPr/>
          <p:nvPr/>
        </p:nvSpPr>
        <p:spPr>
          <a:xfrm>
            <a:off x="749808" y="4041648"/>
            <a:ext cx="566928" cy="566928"/>
          </a:xfrm>
          <a:prstGeom prst="ellipse">
            <a:avLst/>
          </a:prstGeom>
          <a:solidFill>
            <a:srgbClr val="FFFFFF"/>
          </a:solidFill>
          <a:ln/>
          <a:effectLst>
            <a:outerShdw blurRad="76200" dist="25400" dir="5400000" algn="bl" rotWithShape="0">
              <a:srgbClr val="808080">
                <a:alpha val="25000"/>
              </a:srgbClr>
            </a:outerShdw>
          </a:effectLst>
        </p:spPr>
      </p:sp>
      <p:pic>
        <p:nvPicPr>
          <p:cNvPr id="21" name="Image 3" descr="/home/claude/dm_ppt/assets/icons/youtube.png"/>
          <p:cNvPicPr>
            <a:picLocks noChangeAspect="1"/>
          </p:cNvPicPr>
          <p:nvPr/>
        </p:nvPicPr>
        <p:blipFill>
          <a:blip r:embed="rId6"/>
          <a:stretch>
            <a:fillRect/>
          </a:stretch>
        </p:blipFill>
        <p:spPr>
          <a:xfrm>
            <a:off x="877367" y="4169207"/>
            <a:ext cx="311810" cy="311810"/>
          </a:xfrm>
          <a:prstGeom prst="rect">
            <a:avLst/>
          </a:prstGeom>
        </p:spPr>
      </p:pic>
      <p:sp>
        <p:nvSpPr>
          <p:cNvPr id="22" name="Text 16"/>
          <p:cNvSpPr/>
          <p:nvPr/>
        </p:nvSpPr>
        <p:spPr>
          <a:xfrm>
            <a:off x="749808" y="4663440"/>
            <a:ext cx="3112008" cy="310896"/>
          </a:xfrm>
          <a:prstGeom prst="rect">
            <a:avLst/>
          </a:prstGeom>
          <a:noFill/>
          <a:ln/>
        </p:spPr>
        <p:txBody>
          <a:bodyPr wrap="square" lIns="0" tIns="0" rIns="0" bIns="0" rtlCol="0" anchor="ctr"/>
          <a:lstStyle/>
          <a:p>
            <a:pPr marL="0" indent="0" algn="l">
              <a:buNone/>
            </a:pPr>
            <a:r>
              <a:rPr lang="en-US" sz="1400" b="1" dirty="0">
                <a:solidFill>
                  <a:srgbClr val="1B2430"/>
                </a:solidFill>
                <a:latin typeface="Calibri" pitchFamily="34" charset="0"/>
                <a:ea typeface="Calibri" pitchFamily="34" charset="-122"/>
                <a:cs typeface="Calibri" pitchFamily="34" charset="-120"/>
              </a:rPr>
              <a:t>YouTube</a:t>
            </a:r>
            <a:endParaRPr lang="en-US" sz="1400" dirty="0"/>
          </a:p>
        </p:txBody>
      </p:sp>
      <p:sp>
        <p:nvSpPr>
          <p:cNvPr id="23" name="Text 17"/>
          <p:cNvSpPr/>
          <p:nvPr/>
        </p:nvSpPr>
        <p:spPr>
          <a:xfrm>
            <a:off x="749808" y="4974336"/>
            <a:ext cx="3112008" cy="859536"/>
          </a:xfrm>
          <a:prstGeom prst="rect">
            <a:avLst/>
          </a:prstGeom>
          <a:noFill/>
          <a:ln/>
        </p:spPr>
        <p:txBody>
          <a:bodyPr wrap="square" lIns="0" tIns="0" rIns="0" bIns="0" rtlCol="0" anchor="t"/>
          <a:lstStyle/>
          <a:p>
            <a:pPr marL="0" indent="0" algn="l">
              <a:buNone/>
            </a:pPr>
            <a:r>
              <a:rPr lang="en-US" sz="1100" dirty="0">
                <a:solidFill>
                  <a:srgbClr val="5B6B79"/>
                </a:solidFill>
                <a:latin typeface="Calibri" pitchFamily="34" charset="0"/>
                <a:ea typeface="Calibri" pitchFamily="34" charset="-122"/>
                <a:cs typeface="Calibri" pitchFamily="34" charset="-120"/>
              </a:rPr>
              <a:t>Video ads and content marketing</a:t>
            </a:r>
            <a:endParaRPr lang="en-US" sz="1100" dirty="0"/>
          </a:p>
        </p:txBody>
      </p:sp>
      <p:sp>
        <p:nvSpPr>
          <p:cNvPr id="24" name="Shape 18"/>
          <p:cNvSpPr/>
          <p:nvPr/>
        </p:nvSpPr>
        <p:spPr>
          <a:xfrm>
            <a:off x="4337304" y="3840480"/>
            <a:ext cx="3514344" cy="2103120"/>
          </a:xfrm>
          <a:prstGeom prst="roundRect">
            <a:avLst>
              <a:gd name="adj" fmla="val 5217"/>
            </a:avLst>
          </a:prstGeom>
          <a:solidFill>
            <a:srgbClr val="EAF3FB"/>
          </a:solidFill>
          <a:ln/>
          <a:effectLst>
            <a:outerShdw blurRad="101600" dist="25400" dir="5400000" algn="bl" rotWithShape="0">
              <a:srgbClr val="8090A0">
                <a:alpha val="18000"/>
              </a:srgbClr>
            </a:outerShdw>
          </a:effectLst>
        </p:spPr>
      </p:sp>
      <p:sp>
        <p:nvSpPr>
          <p:cNvPr id="25" name="Shape 19"/>
          <p:cNvSpPr/>
          <p:nvPr/>
        </p:nvSpPr>
        <p:spPr>
          <a:xfrm>
            <a:off x="4538472" y="4041648"/>
            <a:ext cx="566928" cy="566928"/>
          </a:xfrm>
          <a:prstGeom prst="ellipse">
            <a:avLst/>
          </a:prstGeom>
          <a:solidFill>
            <a:srgbClr val="FFFFFF"/>
          </a:solidFill>
          <a:ln/>
          <a:effectLst>
            <a:outerShdw blurRad="76200" dist="25400" dir="5400000" algn="bl" rotWithShape="0">
              <a:srgbClr val="808080">
                <a:alpha val="25000"/>
              </a:srgbClr>
            </a:outerShdw>
          </a:effectLst>
        </p:spPr>
      </p:sp>
      <p:pic>
        <p:nvPicPr>
          <p:cNvPr id="26" name="Image 4" descr="/home/claude/dm_ppt/assets/icons/linkedin.png"/>
          <p:cNvPicPr>
            <a:picLocks noChangeAspect="1"/>
          </p:cNvPicPr>
          <p:nvPr/>
        </p:nvPicPr>
        <p:blipFill>
          <a:blip r:embed="rId7"/>
          <a:stretch>
            <a:fillRect/>
          </a:stretch>
        </p:blipFill>
        <p:spPr>
          <a:xfrm>
            <a:off x="4666031" y="4169207"/>
            <a:ext cx="311810" cy="311810"/>
          </a:xfrm>
          <a:prstGeom prst="rect">
            <a:avLst/>
          </a:prstGeom>
        </p:spPr>
      </p:pic>
      <p:sp>
        <p:nvSpPr>
          <p:cNvPr id="27" name="Text 20"/>
          <p:cNvSpPr/>
          <p:nvPr/>
        </p:nvSpPr>
        <p:spPr>
          <a:xfrm>
            <a:off x="4538472" y="4663440"/>
            <a:ext cx="3112008" cy="310896"/>
          </a:xfrm>
          <a:prstGeom prst="rect">
            <a:avLst/>
          </a:prstGeom>
          <a:noFill/>
          <a:ln/>
        </p:spPr>
        <p:txBody>
          <a:bodyPr wrap="square" lIns="0" tIns="0" rIns="0" bIns="0" rtlCol="0" anchor="ctr"/>
          <a:lstStyle/>
          <a:p>
            <a:pPr marL="0" indent="0" algn="l">
              <a:buNone/>
            </a:pPr>
            <a:r>
              <a:rPr lang="en-US" sz="1400" b="1" dirty="0">
                <a:solidFill>
                  <a:srgbClr val="1B2430"/>
                </a:solidFill>
                <a:latin typeface="Calibri" pitchFamily="34" charset="0"/>
                <a:ea typeface="Calibri" pitchFamily="34" charset="-122"/>
                <a:cs typeface="Calibri" pitchFamily="34" charset="-120"/>
              </a:rPr>
              <a:t>LinkedIn</a:t>
            </a:r>
            <a:endParaRPr lang="en-US" sz="1400" dirty="0"/>
          </a:p>
        </p:txBody>
      </p:sp>
      <p:sp>
        <p:nvSpPr>
          <p:cNvPr id="28" name="Text 21"/>
          <p:cNvSpPr/>
          <p:nvPr/>
        </p:nvSpPr>
        <p:spPr>
          <a:xfrm>
            <a:off x="4538472" y="4974336"/>
            <a:ext cx="3112008" cy="859536"/>
          </a:xfrm>
          <a:prstGeom prst="rect">
            <a:avLst/>
          </a:prstGeom>
          <a:noFill/>
          <a:ln/>
        </p:spPr>
        <p:txBody>
          <a:bodyPr wrap="square" lIns="0" tIns="0" rIns="0" bIns="0" rtlCol="0" anchor="t"/>
          <a:lstStyle/>
          <a:p>
            <a:pPr marL="0" indent="0" algn="l">
              <a:buNone/>
            </a:pPr>
            <a:r>
              <a:rPr lang="en-US" sz="1100" dirty="0">
                <a:solidFill>
                  <a:srgbClr val="5B6B79"/>
                </a:solidFill>
                <a:latin typeface="Calibri" pitchFamily="34" charset="0"/>
                <a:ea typeface="Calibri" pitchFamily="34" charset="-122"/>
                <a:cs typeface="Calibri" pitchFamily="34" charset="-120"/>
              </a:rPr>
              <a:t>Best for B2B, professional marketing</a:t>
            </a:r>
            <a:endParaRPr lang="en-US" sz="1100" dirty="0"/>
          </a:p>
        </p:txBody>
      </p:sp>
      <p:sp>
        <p:nvSpPr>
          <p:cNvPr id="29" name="Shape 22"/>
          <p:cNvSpPr/>
          <p:nvPr/>
        </p:nvSpPr>
        <p:spPr>
          <a:xfrm>
            <a:off x="8125968" y="3840480"/>
            <a:ext cx="3514344" cy="2103120"/>
          </a:xfrm>
          <a:prstGeom prst="roundRect">
            <a:avLst>
              <a:gd name="adj" fmla="val 5217"/>
            </a:avLst>
          </a:prstGeom>
          <a:solidFill>
            <a:srgbClr val="EAF3FB"/>
          </a:solidFill>
          <a:ln/>
          <a:effectLst>
            <a:outerShdw blurRad="101600" dist="25400" dir="5400000" algn="bl" rotWithShape="0">
              <a:srgbClr val="8090A0">
                <a:alpha val="18000"/>
              </a:srgbClr>
            </a:outerShdw>
          </a:effectLst>
        </p:spPr>
      </p:sp>
      <p:sp>
        <p:nvSpPr>
          <p:cNvPr id="30" name="Shape 23"/>
          <p:cNvSpPr/>
          <p:nvPr/>
        </p:nvSpPr>
        <p:spPr>
          <a:xfrm>
            <a:off x="8327136" y="4041648"/>
            <a:ext cx="566928" cy="566928"/>
          </a:xfrm>
          <a:prstGeom prst="ellipse">
            <a:avLst/>
          </a:prstGeom>
          <a:solidFill>
            <a:srgbClr val="FFFFFF"/>
          </a:solidFill>
          <a:ln/>
          <a:effectLst>
            <a:outerShdw blurRad="76200" dist="25400" dir="5400000" algn="bl" rotWithShape="0">
              <a:srgbClr val="808080">
                <a:alpha val="25000"/>
              </a:srgbClr>
            </a:outerShdw>
          </a:effectLst>
        </p:spPr>
      </p:sp>
      <p:pic>
        <p:nvPicPr>
          <p:cNvPr id="31" name="Image 5" descr="/home/claude/dm_ppt/assets/icons/whatsapp.png"/>
          <p:cNvPicPr>
            <a:picLocks noChangeAspect="1"/>
          </p:cNvPicPr>
          <p:nvPr/>
        </p:nvPicPr>
        <p:blipFill>
          <a:blip r:embed="rId8"/>
          <a:stretch>
            <a:fillRect/>
          </a:stretch>
        </p:blipFill>
        <p:spPr>
          <a:xfrm>
            <a:off x="8454695" y="4169207"/>
            <a:ext cx="311810" cy="311810"/>
          </a:xfrm>
          <a:prstGeom prst="rect">
            <a:avLst/>
          </a:prstGeom>
        </p:spPr>
      </p:pic>
      <p:sp>
        <p:nvSpPr>
          <p:cNvPr id="32" name="Text 24"/>
          <p:cNvSpPr/>
          <p:nvPr/>
        </p:nvSpPr>
        <p:spPr>
          <a:xfrm>
            <a:off x="8327136" y="4663440"/>
            <a:ext cx="3112008" cy="310896"/>
          </a:xfrm>
          <a:prstGeom prst="rect">
            <a:avLst/>
          </a:prstGeom>
          <a:noFill/>
          <a:ln/>
        </p:spPr>
        <p:txBody>
          <a:bodyPr wrap="square" lIns="0" tIns="0" rIns="0" bIns="0" rtlCol="0" anchor="ctr"/>
          <a:lstStyle/>
          <a:p>
            <a:pPr marL="0" indent="0" algn="l">
              <a:buNone/>
            </a:pPr>
            <a:r>
              <a:rPr lang="en-US" sz="1400" b="1" dirty="0">
                <a:solidFill>
                  <a:srgbClr val="1B2430"/>
                </a:solidFill>
                <a:latin typeface="Calibri" pitchFamily="34" charset="0"/>
                <a:ea typeface="Calibri" pitchFamily="34" charset="-122"/>
                <a:cs typeface="Calibri" pitchFamily="34" charset="-120"/>
              </a:rPr>
              <a:t>WhatsApp</a:t>
            </a:r>
            <a:endParaRPr lang="en-US" sz="1400" dirty="0"/>
          </a:p>
        </p:txBody>
      </p:sp>
      <p:sp>
        <p:nvSpPr>
          <p:cNvPr id="33" name="Text 25"/>
          <p:cNvSpPr/>
          <p:nvPr/>
        </p:nvSpPr>
        <p:spPr>
          <a:xfrm>
            <a:off x="8327136" y="4974336"/>
            <a:ext cx="3112008" cy="859536"/>
          </a:xfrm>
          <a:prstGeom prst="rect">
            <a:avLst/>
          </a:prstGeom>
          <a:noFill/>
          <a:ln/>
        </p:spPr>
        <p:txBody>
          <a:bodyPr wrap="square" lIns="0" tIns="0" rIns="0" bIns="0" rtlCol="0" anchor="t"/>
          <a:lstStyle/>
          <a:p>
            <a:pPr marL="0" indent="0" algn="l">
              <a:buNone/>
            </a:pPr>
            <a:r>
              <a:rPr lang="en-US" sz="1100" dirty="0">
                <a:solidFill>
                  <a:srgbClr val="5B6B79"/>
                </a:solidFill>
                <a:latin typeface="Calibri" pitchFamily="34" charset="0"/>
                <a:ea typeface="Calibri" pitchFamily="34" charset="-122"/>
                <a:cs typeface="Calibri" pitchFamily="34" charset="-120"/>
              </a:rPr>
              <a:t>Direct, personal customer communication</a:t>
            </a:r>
            <a:endParaRPr lang="en-US" sz="1100" dirty="0"/>
          </a:p>
        </p:txBody>
      </p:sp>
      <p:sp>
        <p:nvSpPr>
          <p:cNvPr id="34" name="Text 26"/>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J.B.S.P. Sanstha's College, Panvel</a:t>
            </a:r>
            <a:endParaRPr lang="en-US" sz="900" dirty="0"/>
          </a:p>
        </p:txBody>
      </p:sp>
      <p:sp>
        <p:nvSpPr>
          <p:cNvPr id="35" name="Text 27"/>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4</a:t>
            </a:r>
            <a:endParaRPr lang="en-US" sz="900" dirty="0"/>
          </a:p>
        </p:txBody>
      </p:sp>
    </p:spTree>
  </p:cSld>
  <p:clrMapOvr>
    <a:masterClrMapping/>
  </p:clrMapOvr>
  <p:transition>
    <p:cover dir="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685800"/>
          </a:xfrm>
          <a:prstGeom prst="rect">
            <a:avLst/>
          </a:prstGeom>
          <a:noFill/>
          <a:ln/>
        </p:spPr>
        <p:txBody>
          <a:bodyPr wrap="square" rtlCol="0" anchor="ctr"/>
          <a:lstStyle/>
          <a:p>
            <a:pPr marL="0" indent="0" algn="l">
              <a:buNone/>
            </a:pPr>
            <a:r>
              <a:rPr lang="en-US" sz="3200" b="1" dirty="0">
                <a:solidFill>
                  <a:srgbClr val="12395B"/>
                </a:solidFill>
                <a:latin typeface="Cambria" pitchFamily="34" charset="0"/>
                <a:ea typeface="Cambria" pitchFamily="34" charset="-122"/>
                <a:cs typeface="Cambria" pitchFamily="34" charset="-120"/>
              </a:rPr>
              <a:t>Advantages of Digital Marketing</a:t>
            </a:r>
            <a:endParaRPr lang="en-US" sz="3200" dirty="0"/>
          </a:p>
        </p:txBody>
      </p:sp>
      <p:sp>
        <p:nvSpPr>
          <p:cNvPr id="3" name="Shape 1"/>
          <p:cNvSpPr/>
          <p:nvPr/>
        </p:nvSpPr>
        <p:spPr>
          <a:xfrm>
            <a:off x="0" y="1170432"/>
            <a:ext cx="12188952" cy="18288"/>
          </a:xfrm>
          <a:prstGeom prst="rect">
            <a:avLst/>
          </a:prstGeom>
          <a:solidFill>
            <a:srgbClr val="E3E9EF"/>
          </a:solidFill>
          <a:ln/>
        </p:spPr>
      </p:sp>
      <p:sp>
        <p:nvSpPr>
          <p:cNvPr id="4" name="Shape 2"/>
          <p:cNvSpPr/>
          <p:nvPr/>
        </p:nvSpPr>
        <p:spPr>
          <a:xfrm>
            <a:off x="548640" y="1508760"/>
            <a:ext cx="3514344" cy="2103120"/>
          </a:xfrm>
          <a:prstGeom prst="roundRect">
            <a:avLst>
              <a:gd name="adj" fmla="val 5217"/>
            </a:avLst>
          </a:prstGeom>
          <a:solidFill>
            <a:srgbClr val="FDECD1"/>
          </a:solidFill>
          <a:ln/>
          <a:effectLst>
            <a:outerShdw blurRad="101600" dist="25400" dir="5400000" algn="bl" rotWithShape="0">
              <a:srgbClr val="8090A0">
                <a:alpha val="18000"/>
              </a:srgbClr>
            </a:outerShdw>
          </a:effectLst>
        </p:spPr>
      </p:sp>
      <p:sp>
        <p:nvSpPr>
          <p:cNvPr id="5" name="Shape 3"/>
          <p:cNvSpPr/>
          <p:nvPr/>
        </p:nvSpPr>
        <p:spPr>
          <a:xfrm>
            <a:off x="749808" y="1709928"/>
            <a:ext cx="566928" cy="566928"/>
          </a:xfrm>
          <a:prstGeom prst="ellipse">
            <a:avLst/>
          </a:prstGeom>
          <a:solidFill>
            <a:srgbClr val="F5A623"/>
          </a:solidFill>
          <a:ln/>
          <a:effectLst>
            <a:outerShdw blurRad="76200" dist="25400" dir="5400000" algn="bl" rotWithShape="0">
              <a:srgbClr val="808080">
                <a:alpha val="25000"/>
              </a:srgbClr>
            </a:outerShdw>
          </a:effectLst>
        </p:spPr>
      </p:sp>
      <p:pic>
        <p:nvPicPr>
          <p:cNvPr id="6" name="Image 0" descr="/home/claude/dm_ppt/assets/icons/globalreach.png"/>
          <p:cNvPicPr>
            <a:picLocks noChangeAspect="1"/>
          </p:cNvPicPr>
          <p:nvPr/>
        </p:nvPicPr>
        <p:blipFill>
          <a:blip r:embed="rId3"/>
          <a:stretch>
            <a:fillRect/>
          </a:stretch>
        </p:blipFill>
        <p:spPr>
          <a:xfrm>
            <a:off x="877367" y="1837487"/>
            <a:ext cx="311810" cy="311810"/>
          </a:xfrm>
          <a:prstGeom prst="rect">
            <a:avLst/>
          </a:prstGeom>
        </p:spPr>
      </p:pic>
      <p:sp>
        <p:nvSpPr>
          <p:cNvPr id="7" name="Text 4"/>
          <p:cNvSpPr/>
          <p:nvPr/>
        </p:nvSpPr>
        <p:spPr>
          <a:xfrm>
            <a:off x="749808" y="2331720"/>
            <a:ext cx="3112008" cy="310896"/>
          </a:xfrm>
          <a:prstGeom prst="rect">
            <a:avLst/>
          </a:prstGeom>
          <a:noFill/>
          <a:ln/>
        </p:spPr>
        <p:txBody>
          <a:bodyPr wrap="square" lIns="0" tIns="0" rIns="0" bIns="0" rtlCol="0" anchor="ctr"/>
          <a:lstStyle/>
          <a:p>
            <a:pPr marL="0" indent="0" algn="l">
              <a:buNone/>
            </a:pPr>
            <a:r>
              <a:rPr lang="en-US" sz="1400" b="1" dirty="0">
                <a:solidFill>
                  <a:srgbClr val="1B2430"/>
                </a:solidFill>
                <a:latin typeface="Calibri" pitchFamily="34" charset="0"/>
                <a:ea typeface="Calibri" pitchFamily="34" charset="-122"/>
                <a:cs typeface="Calibri" pitchFamily="34" charset="-120"/>
              </a:rPr>
              <a:t>Global Reach</a:t>
            </a:r>
            <a:endParaRPr lang="en-US" sz="1400" dirty="0"/>
          </a:p>
        </p:txBody>
      </p:sp>
      <p:sp>
        <p:nvSpPr>
          <p:cNvPr id="8" name="Text 5"/>
          <p:cNvSpPr/>
          <p:nvPr/>
        </p:nvSpPr>
        <p:spPr>
          <a:xfrm>
            <a:off x="749808" y="2642616"/>
            <a:ext cx="3112008" cy="859536"/>
          </a:xfrm>
          <a:prstGeom prst="rect">
            <a:avLst/>
          </a:prstGeom>
          <a:noFill/>
          <a:ln/>
        </p:spPr>
        <p:txBody>
          <a:bodyPr wrap="square" lIns="0" tIns="0" rIns="0" bIns="0" rtlCol="0" anchor="t"/>
          <a:lstStyle/>
          <a:p>
            <a:pPr marL="0" indent="0" algn="l">
              <a:buNone/>
            </a:pPr>
            <a:r>
              <a:rPr lang="en-US" sz="1100" dirty="0">
                <a:solidFill>
                  <a:srgbClr val="5B6B79"/>
                </a:solidFill>
                <a:latin typeface="Calibri" pitchFamily="34" charset="0"/>
                <a:ea typeface="Calibri" pitchFamily="34" charset="-122"/>
                <a:cs typeface="Calibri" pitchFamily="34" charset="-120"/>
              </a:rPr>
              <a:t>Reach customers anywhere in the world</a:t>
            </a:r>
            <a:endParaRPr lang="en-US" sz="1100" dirty="0"/>
          </a:p>
        </p:txBody>
      </p:sp>
      <p:sp>
        <p:nvSpPr>
          <p:cNvPr id="9" name="Shape 6"/>
          <p:cNvSpPr/>
          <p:nvPr/>
        </p:nvSpPr>
        <p:spPr>
          <a:xfrm>
            <a:off x="4337304" y="1508760"/>
            <a:ext cx="3514344" cy="2103120"/>
          </a:xfrm>
          <a:prstGeom prst="roundRect">
            <a:avLst>
              <a:gd name="adj" fmla="val 5217"/>
            </a:avLst>
          </a:prstGeom>
          <a:solidFill>
            <a:srgbClr val="FDECD1"/>
          </a:solidFill>
          <a:ln/>
          <a:effectLst>
            <a:outerShdw blurRad="101600" dist="25400" dir="5400000" algn="bl" rotWithShape="0">
              <a:srgbClr val="8090A0">
                <a:alpha val="18000"/>
              </a:srgbClr>
            </a:outerShdw>
          </a:effectLst>
        </p:spPr>
      </p:sp>
      <p:sp>
        <p:nvSpPr>
          <p:cNvPr id="10" name="Shape 7"/>
          <p:cNvSpPr/>
          <p:nvPr/>
        </p:nvSpPr>
        <p:spPr>
          <a:xfrm>
            <a:off x="4538472" y="1709928"/>
            <a:ext cx="566928" cy="566928"/>
          </a:xfrm>
          <a:prstGeom prst="ellipse">
            <a:avLst/>
          </a:prstGeom>
          <a:solidFill>
            <a:srgbClr val="F5A623"/>
          </a:solidFill>
          <a:ln/>
          <a:effectLst>
            <a:outerShdw blurRad="76200" dist="25400" dir="5400000" algn="bl" rotWithShape="0">
              <a:srgbClr val="808080">
                <a:alpha val="25000"/>
              </a:srgbClr>
            </a:outerShdw>
          </a:effectLst>
        </p:spPr>
      </p:sp>
      <p:pic>
        <p:nvPicPr>
          <p:cNvPr id="11" name="Image 1" descr="/home/claude/dm_ppt/assets/icons/lowcost.png"/>
          <p:cNvPicPr>
            <a:picLocks noChangeAspect="1"/>
          </p:cNvPicPr>
          <p:nvPr/>
        </p:nvPicPr>
        <p:blipFill>
          <a:blip r:embed="rId4"/>
          <a:stretch>
            <a:fillRect/>
          </a:stretch>
        </p:blipFill>
        <p:spPr>
          <a:xfrm>
            <a:off x="4666031" y="1837487"/>
            <a:ext cx="311810" cy="311810"/>
          </a:xfrm>
          <a:prstGeom prst="rect">
            <a:avLst/>
          </a:prstGeom>
        </p:spPr>
      </p:pic>
      <p:sp>
        <p:nvSpPr>
          <p:cNvPr id="12" name="Text 8"/>
          <p:cNvSpPr/>
          <p:nvPr/>
        </p:nvSpPr>
        <p:spPr>
          <a:xfrm>
            <a:off x="4538472" y="2331720"/>
            <a:ext cx="3112008" cy="310896"/>
          </a:xfrm>
          <a:prstGeom prst="rect">
            <a:avLst/>
          </a:prstGeom>
          <a:noFill/>
          <a:ln/>
        </p:spPr>
        <p:txBody>
          <a:bodyPr wrap="square" lIns="0" tIns="0" rIns="0" bIns="0" rtlCol="0" anchor="ctr"/>
          <a:lstStyle/>
          <a:p>
            <a:pPr marL="0" indent="0" algn="l">
              <a:buNone/>
            </a:pPr>
            <a:r>
              <a:rPr lang="en-US" sz="1400" b="1" dirty="0">
                <a:solidFill>
                  <a:srgbClr val="1B2430"/>
                </a:solidFill>
                <a:latin typeface="Calibri" pitchFamily="34" charset="0"/>
                <a:ea typeface="Calibri" pitchFamily="34" charset="-122"/>
                <a:cs typeface="Calibri" pitchFamily="34" charset="-120"/>
              </a:rPr>
              <a:t>Low Cost</a:t>
            </a:r>
            <a:endParaRPr lang="en-US" sz="1400" dirty="0"/>
          </a:p>
        </p:txBody>
      </p:sp>
      <p:sp>
        <p:nvSpPr>
          <p:cNvPr id="13" name="Text 9"/>
          <p:cNvSpPr/>
          <p:nvPr/>
        </p:nvSpPr>
        <p:spPr>
          <a:xfrm>
            <a:off x="4538472" y="2642616"/>
            <a:ext cx="3112008" cy="859536"/>
          </a:xfrm>
          <a:prstGeom prst="rect">
            <a:avLst/>
          </a:prstGeom>
          <a:noFill/>
          <a:ln/>
        </p:spPr>
        <p:txBody>
          <a:bodyPr wrap="square" lIns="0" tIns="0" rIns="0" bIns="0" rtlCol="0" anchor="t"/>
          <a:lstStyle/>
          <a:p>
            <a:pPr marL="0" indent="0" algn="l">
              <a:buNone/>
            </a:pPr>
            <a:r>
              <a:rPr lang="en-US" sz="1100" dirty="0">
                <a:solidFill>
                  <a:srgbClr val="5B6B79"/>
                </a:solidFill>
                <a:latin typeface="Calibri" pitchFamily="34" charset="0"/>
                <a:ea typeface="Calibri" pitchFamily="34" charset="-122"/>
                <a:cs typeface="Calibri" pitchFamily="34" charset="-120"/>
              </a:rPr>
              <a:t>Cheaper than TV or newspaper ads</a:t>
            </a:r>
            <a:endParaRPr lang="en-US" sz="1100" dirty="0"/>
          </a:p>
        </p:txBody>
      </p:sp>
      <p:sp>
        <p:nvSpPr>
          <p:cNvPr id="14" name="Shape 10"/>
          <p:cNvSpPr/>
          <p:nvPr/>
        </p:nvSpPr>
        <p:spPr>
          <a:xfrm>
            <a:off x="8125968" y="1508760"/>
            <a:ext cx="3514344" cy="2103120"/>
          </a:xfrm>
          <a:prstGeom prst="roundRect">
            <a:avLst>
              <a:gd name="adj" fmla="val 5217"/>
            </a:avLst>
          </a:prstGeom>
          <a:solidFill>
            <a:srgbClr val="FDECD1"/>
          </a:solidFill>
          <a:ln/>
          <a:effectLst>
            <a:outerShdw blurRad="101600" dist="25400" dir="5400000" algn="bl" rotWithShape="0">
              <a:srgbClr val="8090A0">
                <a:alpha val="18000"/>
              </a:srgbClr>
            </a:outerShdw>
          </a:effectLst>
        </p:spPr>
      </p:sp>
      <p:sp>
        <p:nvSpPr>
          <p:cNvPr id="15" name="Shape 11"/>
          <p:cNvSpPr/>
          <p:nvPr/>
        </p:nvSpPr>
        <p:spPr>
          <a:xfrm>
            <a:off x="8327136" y="1709928"/>
            <a:ext cx="566928" cy="566928"/>
          </a:xfrm>
          <a:prstGeom prst="ellipse">
            <a:avLst/>
          </a:prstGeom>
          <a:solidFill>
            <a:srgbClr val="F5A623"/>
          </a:solidFill>
          <a:ln/>
          <a:effectLst>
            <a:outerShdw blurRad="76200" dist="25400" dir="5400000" algn="bl" rotWithShape="0">
              <a:srgbClr val="808080">
                <a:alpha val="25000"/>
              </a:srgbClr>
            </a:outerShdw>
          </a:effectLst>
        </p:spPr>
      </p:sp>
      <p:pic>
        <p:nvPicPr>
          <p:cNvPr id="16" name="Image 2" descr="/home/claude/dm_ppt/assets/icons/engagement.png"/>
          <p:cNvPicPr>
            <a:picLocks noChangeAspect="1"/>
          </p:cNvPicPr>
          <p:nvPr/>
        </p:nvPicPr>
        <p:blipFill>
          <a:blip r:embed="rId5"/>
          <a:stretch>
            <a:fillRect/>
          </a:stretch>
        </p:blipFill>
        <p:spPr>
          <a:xfrm>
            <a:off x="8454695" y="1837487"/>
            <a:ext cx="311810" cy="311810"/>
          </a:xfrm>
          <a:prstGeom prst="rect">
            <a:avLst/>
          </a:prstGeom>
        </p:spPr>
      </p:pic>
      <p:sp>
        <p:nvSpPr>
          <p:cNvPr id="17" name="Text 12"/>
          <p:cNvSpPr/>
          <p:nvPr/>
        </p:nvSpPr>
        <p:spPr>
          <a:xfrm>
            <a:off x="8327136" y="2331720"/>
            <a:ext cx="3112008" cy="310896"/>
          </a:xfrm>
          <a:prstGeom prst="rect">
            <a:avLst/>
          </a:prstGeom>
          <a:noFill/>
          <a:ln/>
        </p:spPr>
        <p:txBody>
          <a:bodyPr wrap="square" lIns="0" tIns="0" rIns="0" bIns="0" rtlCol="0" anchor="ctr"/>
          <a:lstStyle/>
          <a:p>
            <a:pPr marL="0" indent="0" algn="l">
              <a:buNone/>
            </a:pPr>
            <a:r>
              <a:rPr lang="en-US" sz="1400" b="1" dirty="0">
                <a:solidFill>
                  <a:srgbClr val="1B2430"/>
                </a:solidFill>
                <a:latin typeface="Calibri" pitchFamily="34" charset="0"/>
                <a:ea typeface="Calibri" pitchFamily="34" charset="-122"/>
                <a:cs typeface="Calibri" pitchFamily="34" charset="-120"/>
              </a:rPr>
              <a:t>Better Engagement</a:t>
            </a:r>
            <a:endParaRPr lang="en-US" sz="1400" dirty="0"/>
          </a:p>
        </p:txBody>
      </p:sp>
      <p:sp>
        <p:nvSpPr>
          <p:cNvPr id="18" name="Text 13"/>
          <p:cNvSpPr/>
          <p:nvPr/>
        </p:nvSpPr>
        <p:spPr>
          <a:xfrm>
            <a:off x="8327136" y="2642616"/>
            <a:ext cx="3112008" cy="859536"/>
          </a:xfrm>
          <a:prstGeom prst="rect">
            <a:avLst/>
          </a:prstGeom>
          <a:noFill/>
          <a:ln/>
        </p:spPr>
        <p:txBody>
          <a:bodyPr wrap="square" lIns="0" tIns="0" rIns="0" bIns="0" rtlCol="0" anchor="t"/>
          <a:lstStyle/>
          <a:p>
            <a:pPr marL="0" indent="0" algn="l">
              <a:buNone/>
            </a:pPr>
            <a:r>
              <a:rPr lang="en-US" sz="1100" dirty="0">
                <a:solidFill>
                  <a:srgbClr val="5B6B79"/>
                </a:solidFill>
                <a:latin typeface="Calibri" pitchFamily="34" charset="0"/>
                <a:ea typeface="Calibri" pitchFamily="34" charset="-122"/>
                <a:cs typeface="Calibri" pitchFamily="34" charset="-120"/>
              </a:rPr>
              <a:t>Direct conversation with customers</a:t>
            </a:r>
            <a:endParaRPr lang="en-US" sz="1100" dirty="0"/>
          </a:p>
        </p:txBody>
      </p:sp>
      <p:sp>
        <p:nvSpPr>
          <p:cNvPr id="19" name="Shape 14"/>
          <p:cNvSpPr/>
          <p:nvPr/>
        </p:nvSpPr>
        <p:spPr>
          <a:xfrm>
            <a:off x="548640" y="3840480"/>
            <a:ext cx="3514344" cy="2103120"/>
          </a:xfrm>
          <a:prstGeom prst="roundRect">
            <a:avLst>
              <a:gd name="adj" fmla="val 5217"/>
            </a:avLst>
          </a:prstGeom>
          <a:solidFill>
            <a:srgbClr val="FDECD1"/>
          </a:solidFill>
          <a:ln/>
          <a:effectLst>
            <a:outerShdw blurRad="101600" dist="25400" dir="5400000" algn="bl" rotWithShape="0">
              <a:srgbClr val="8090A0">
                <a:alpha val="18000"/>
              </a:srgbClr>
            </a:outerShdw>
          </a:effectLst>
        </p:spPr>
      </p:sp>
      <p:sp>
        <p:nvSpPr>
          <p:cNvPr id="20" name="Shape 15"/>
          <p:cNvSpPr/>
          <p:nvPr/>
        </p:nvSpPr>
        <p:spPr>
          <a:xfrm>
            <a:off x="749808" y="4041648"/>
            <a:ext cx="566928" cy="566928"/>
          </a:xfrm>
          <a:prstGeom prst="ellipse">
            <a:avLst/>
          </a:prstGeom>
          <a:solidFill>
            <a:srgbClr val="F5A623"/>
          </a:solidFill>
          <a:ln/>
          <a:effectLst>
            <a:outerShdw blurRad="76200" dist="25400" dir="5400000" algn="bl" rotWithShape="0">
              <a:srgbClr val="808080">
                <a:alpha val="25000"/>
              </a:srgbClr>
            </a:outerShdw>
          </a:effectLst>
        </p:spPr>
      </p:sp>
      <p:pic>
        <p:nvPicPr>
          <p:cNvPr id="21" name="Image 3" descr="/home/claude/dm_ppt/assets/icons/measurable.png"/>
          <p:cNvPicPr>
            <a:picLocks noChangeAspect="1"/>
          </p:cNvPicPr>
          <p:nvPr/>
        </p:nvPicPr>
        <p:blipFill>
          <a:blip r:embed="rId6"/>
          <a:stretch>
            <a:fillRect/>
          </a:stretch>
        </p:blipFill>
        <p:spPr>
          <a:xfrm>
            <a:off x="877367" y="4169207"/>
            <a:ext cx="311810" cy="311810"/>
          </a:xfrm>
          <a:prstGeom prst="rect">
            <a:avLst/>
          </a:prstGeom>
        </p:spPr>
      </p:pic>
      <p:sp>
        <p:nvSpPr>
          <p:cNvPr id="22" name="Text 16"/>
          <p:cNvSpPr/>
          <p:nvPr/>
        </p:nvSpPr>
        <p:spPr>
          <a:xfrm>
            <a:off x="749808" y="4663440"/>
            <a:ext cx="3112008" cy="310896"/>
          </a:xfrm>
          <a:prstGeom prst="rect">
            <a:avLst/>
          </a:prstGeom>
          <a:noFill/>
          <a:ln/>
        </p:spPr>
        <p:txBody>
          <a:bodyPr wrap="square" lIns="0" tIns="0" rIns="0" bIns="0" rtlCol="0" anchor="ctr"/>
          <a:lstStyle/>
          <a:p>
            <a:pPr marL="0" indent="0" algn="l">
              <a:buNone/>
            </a:pPr>
            <a:r>
              <a:rPr lang="en-US" sz="1400" b="1" dirty="0">
                <a:solidFill>
                  <a:srgbClr val="1B2430"/>
                </a:solidFill>
                <a:latin typeface="Calibri" pitchFamily="34" charset="0"/>
                <a:ea typeface="Calibri" pitchFamily="34" charset="-122"/>
                <a:cs typeface="Calibri" pitchFamily="34" charset="-120"/>
              </a:rPr>
              <a:t>Measurable Results</a:t>
            </a:r>
            <a:endParaRPr lang="en-US" sz="1400" dirty="0"/>
          </a:p>
        </p:txBody>
      </p:sp>
      <p:sp>
        <p:nvSpPr>
          <p:cNvPr id="23" name="Text 17"/>
          <p:cNvSpPr/>
          <p:nvPr/>
        </p:nvSpPr>
        <p:spPr>
          <a:xfrm>
            <a:off x="749808" y="4974336"/>
            <a:ext cx="3112008" cy="859536"/>
          </a:xfrm>
          <a:prstGeom prst="rect">
            <a:avLst/>
          </a:prstGeom>
          <a:noFill/>
          <a:ln/>
        </p:spPr>
        <p:txBody>
          <a:bodyPr wrap="square" lIns="0" tIns="0" rIns="0" bIns="0" rtlCol="0" anchor="t"/>
          <a:lstStyle/>
          <a:p>
            <a:pPr marL="0" indent="0" algn="l">
              <a:buNone/>
            </a:pPr>
            <a:r>
              <a:rPr lang="en-US" sz="1100" dirty="0">
                <a:solidFill>
                  <a:srgbClr val="5B6B79"/>
                </a:solidFill>
                <a:latin typeface="Calibri" pitchFamily="34" charset="0"/>
                <a:ea typeface="Calibri" pitchFamily="34" charset="-122"/>
                <a:cs typeface="Calibri" pitchFamily="34" charset="-120"/>
              </a:rPr>
              <a:t>Track clicks, views and sales easily</a:t>
            </a:r>
            <a:endParaRPr lang="en-US" sz="1100" dirty="0"/>
          </a:p>
        </p:txBody>
      </p:sp>
      <p:sp>
        <p:nvSpPr>
          <p:cNvPr id="24" name="Shape 18"/>
          <p:cNvSpPr/>
          <p:nvPr/>
        </p:nvSpPr>
        <p:spPr>
          <a:xfrm>
            <a:off x="4337304" y="3840480"/>
            <a:ext cx="3514344" cy="2103120"/>
          </a:xfrm>
          <a:prstGeom prst="roundRect">
            <a:avLst>
              <a:gd name="adj" fmla="val 5217"/>
            </a:avLst>
          </a:prstGeom>
          <a:solidFill>
            <a:srgbClr val="FDECD1"/>
          </a:solidFill>
          <a:ln/>
          <a:effectLst>
            <a:outerShdw blurRad="101600" dist="25400" dir="5400000" algn="bl" rotWithShape="0">
              <a:srgbClr val="8090A0">
                <a:alpha val="18000"/>
              </a:srgbClr>
            </a:outerShdw>
          </a:effectLst>
        </p:spPr>
      </p:sp>
      <p:sp>
        <p:nvSpPr>
          <p:cNvPr id="25" name="Shape 19"/>
          <p:cNvSpPr/>
          <p:nvPr/>
        </p:nvSpPr>
        <p:spPr>
          <a:xfrm>
            <a:off x="4538472" y="4041648"/>
            <a:ext cx="566928" cy="566928"/>
          </a:xfrm>
          <a:prstGeom prst="ellipse">
            <a:avLst/>
          </a:prstGeom>
          <a:solidFill>
            <a:srgbClr val="F5A623"/>
          </a:solidFill>
          <a:ln/>
          <a:effectLst>
            <a:outerShdw blurRad="76200" dist="25400" dir="5400000" algn="bl" rotWithShape="0">
              <a:srgbClr val="808080">
                <a:alpha val="25000"/>
              </a:srgbClr>
            </a:outerShdw>
          </a:effectLst>
        </p:spPr>
      </p:sp>
      <p:pic>
        <p:nvPicPr>
          <p:cNvPr id="26" name="Image 4" descr="/home/claude/dm_ppt/assets/icons/time247.png"/>
          <p:cNvPicPr>
            <a:picLocks noChangeAspect="1"/>
          </p:cNvPicPr>
          <p:nvPr/>
        </p:nvPicPr>
        <p:blipFill>
          <a:blip r:embed="rId7"/>
          <a:stretch>
            <a:fillRect/>
          </a:stretch>
        </p:blipFill>
        <p:spPr>
          <a:xfrm>
            <a:off x="4666031" y="4169207"/>
            <a:ext cx="311810" cy="311810"/>
          </a:xfrm>
          <a:prstGeom prst="rect">
            <a:avLst/>
          </a:prstGeom>
        </p:spPr>
      </p:pic>
      <p:sp>
        <p:nvSpPr>
          <p:cNvPr id="27" name="Text 20"/>
          <p:cNvSpPr/>
          <p:nvPr/>
        </p:nvSpPr>
        <p:spPr>
          <a:xfrm>
            <a:off x="4538472" y="4663440"/>
            <a:ext cx="3112008" cy="310896"/>
          </a:xfrm>
          <a:prstGeom prst="rect">
            <a:avLst/>
          </a:prstGeom>
          <a:noFill/>
          <a:ln/>
        </p:spPr>
        <p:txBody>
          <a:bodyPr wrap="square" lIns="0" tIns="0" rIns="0" bIns="0" rtlCol="0" anchor="ctr"/>
          <a:lstStyle/>
          <a:p>
            <a:pPr marL="0" indent="0" algn="l">
              <a:buNone/>
            </a:pPr>
            <a:r>
              <a:rPr lang="en-US" sz="1400" b="1" dirty="0">
                <a:solidFill>
                  <a:srgbClr val="1B2430"/>
                </a:solidFill>
                <a:latin typeface="Calibri" pitchFamily="34" charset="0"/>
                <a:ea typeface="Calibri" pitchFamily="34" charset="-122"/>
                <a:cs typeface="Calibri" pitchFamily="34" charset="-120"/>
              </a:rPr>
              <a:t>24x7 Marketing</a:t>
            </a:r>
            <a:endParaRPr lang="en-US" sz="1400" dirty="0"/>
          </a:p>
        </p:txBody>
      </p:sp>
      <p:sp>
        <p:nvSpPr>
          <p:cNvPr id="28" name="Text 21"/>
          <p:cNvSpPr/>
          <p:nvPr/>
        </p:nvSpPr>
        <p:spPr>
          <a:xfrm>
            <a:off x="4538472" y="4974336"/>
            <a:ext cx="3112008" cy="859536"/>
          </a:xfrm>
          <a:prstGeom prst="rect">
            <a:avLst/>
          </a:prstGeom>
          <a:noFill/>
          <a:ln/>
        </p:spPr>
        <p:txBody>
          <a:bodyPr wrap="square" lIns="0" tIns="0" rIns="0" bIns="0" rtlCol="0" anchor="t"/>
          <a:lstStyle/>
          <a:p>
            <a:pPr marL="0" indent="0" algn="l">
              <a:buNone/>
            </a:pPr>
            <a:r>
              <a:rPr lang="en-US" sz="1100" dirty="0">
                <a:solidFill>
                  <a:srgbClr val="5B6B79"/>
                </a:solidFill>
                <a:latin typeface="Calibri" pitchFamily="34" charset="0"/>
                <a:ea typeface="Calibri" pitchFamily="34" charset="-122"/>
                <a:cs typeface="Calibri" pitchFamily="34" charset="-120"/>
              </a:rPr>
              <a:t>Business runs even while you sleep</a:t>
            </a:r>
            <a:endParaRPr lang="en-US" sz="1100" dirty="0"/>
          </a:p>
        </p:txBody>
      </p:sp>
      <p:sp>
        <p:nvSpPr>
          <p:cNvPr id="29" name="Shape 22"/>
          <p:cNvSpPr/>
          <p:nvPr/>
        </p:nvSpPr>
        <p:spPr>
          <a:xfrm>
            <a:off x="8125968" y="3840480"/>
            <a:ext cx="3514344" cy="2103120"/>
          </a:xfrm>
          <a:prstGeom prst="roundRect">
            <a:avLst>
              <a:gd name="adj" fmla="val 5217"/>
            </a:avLst>
          </a:prstGeom>
          <a:solidFill>
            <a:srgbClr val="FDECD1"/>
          </a:solidFill>
          <a:ln/>
          <a:effectLst>
            <a:outerShdw blurRad="101600" dist="25400" dir="5400000" algn="bl" rotWithShape="0">
              <a:srgbClr val="8090A0">
                <a:alpha val="18000"/>
              </a:srgbClr>
            </a:outerShdw>
          </a:effectLst>
        </p:spPr>
      </p:sp>
      <p:sp>
        <p:nvSpPr>
          <p:cNvPr id="30" name="Shape 23"/>
          <p:cNvSpPr/>
          <p:nvPr/>
        </p:nvSpPr>
        <p:spPr>
          <a:xfrm>
            <a:off x="8327136" y="4041648"/>
            <a:ext cx="566928" cy="566928"/>
          </a:xfrm>
          <a:prstGeom prst="ellipse">
            <a:avLst/>
          </a:prstGeom>
          <a:solidFill>
            <a:srgbClr val="F5A623"/>
          </a:solidFill>
          <a:ln/>
          <a:effectLst>
            <a:outerShdw blurRad="76200" dist="25400" dir="5400000" algn="bl" rotWithShape="0">
              <a:srgbClr val="808080">
                <a:alpha val="25000"/>
              </a:srgbClr>
            </a:outerShdw>
          </a:effectLst>
        </p:spPr>
      </p:sp>
      <p:pic>
        <p:nvPicPr>
          <p:cNvPr id="31" name="Image 5" descr="/home/claude/dm_ppt/assets/icons/sales.png"/>
          <p:cNvPicPr>
            <a:picLocks noChangeAspect="1"/>
          </p:cNvPicPr>
          <p:nvPr/>
        </p:nvPicPr>
        <p:blipFill>
          <a:blip r:embed="rId8"/>
          <a:stretch>
            <a:fillRect/>
          </a:stretch>
        </p:blipFill>
        <p:spPr>
          <a:xfrm>
            <a:off x="8454695" y="4169207"/>
            <a:ext cx="311810" cy="311810"/>
          </a:xfrm>
          <a:prstGeom prst="rect">
            <a:avLst/>
          </a:prstGeom>
        </p:spPr>
      </p:pic>
      <p:sp>
        <p:nvSpPr>
          <p:cNvPr id="32" name="Text 24"/>
          <p:cNvSpPr/>
          <p:nvPr/>
        </p:nvSpPr>
        <p:spPr>
          <a:xfrm>
            <a:off x="8327136" y="4663440"/>
            <a:ext cx="3112008" cy="310896"/>
          </a:xfrm>
          <a:prstGeom prst="rect">
            <a:avLst/>
          </a:prstGeom>
          <a:noFill/>
          <a:ln/>
        </p:spPr>
        <p:txBody>
          <a:bodyPr wrap="square" lIns="0" tIns="0" rIns="0" bIns="0" rtlCol="0" anchor="ctr"/>
          <a:lstStyle/>
          <a:p>
            <a:pPr marL="0" indent="0" algn="l">
              <a:buNone/>
            </a:pPr>
            <a:r>
              <a:rPr lang="en-US" sz="1400" b="1" dirty="0">
                <a:solidFill>
                  <a:srgbClr val="1B2430"/>
                </a:solidFill>
                <a:latin typeface="Calibri" pitchFamily="34" charset="0"/>
                <a:ea typeface="Calibri" pitchFamily="34" charset="-122"/>
                <a:cs typeface="Calibri" pitchFamily="34" charset="-120"/>
              </a:rPr>
              <a:t>Higher Sales</a:t>
            </a:r>
            <a:endParaRPr lang="en-US" sz="1400" dirty="0"/>
          </a:p>
        </p:txBody>
      </p:sp>
      <p:sp>
        <p:nvSpPr>
          <p:cNvPr id="33" name="Text 25"/>
          <p:cNvSpPr/>
          <p:nvPr/>
        </p:nvSpPr>
        <p:spPr>
          <a:xfrm>
            <a:off x="8327136" y="4974336"/>
            <a:ext cx="3112008" cy="859536"/>
          </a:xfrm>
          <a:prstGeom prst="rect">
            <a:avLst/>
          </a:prstGeom>
          <a:noFill/>
          <a:ln/>
        </p:spPr>
        <p:txBody>
          <a:bodyPr wrap="square" lIns="0" tIns="0" rIns="0" bIns="0" rtlCol="0" anchor="t"/>
          <a:lstStyle/>
          <a:p>
            <a:pPr marL="0" indent="0" algn="l">
              <a:buNone/>
            </a:pPr>
            <a:r>
              <a:rPr lang="en-US" sz="1100" dirty="0">
                <a:solidFill>
                  <a:srgbClr val="5B6B79"/>
                </a:solidFill>
                <a:latin typeface="Calibri" pitchFamily="34" charset="0"/>
                <a:ea typeface="Calibri" pitchFamily="34" charset="-122"/>
                <a:cs typeface="Calibri" pitchFamily="34" charset="-120"/>
              </a:rPr>
              <a:t>More visibility leads to more orders</a:t>
            </a:r>
            <a:endParaRPr lang="en-US" sz="1100" dirty="0"/>
          </a:p>
        </p:txBody>
      </p:sp>
      <p:sp>
        <p:nvSpPr>
          <p:cNvPr id="34" name="Text 26"/>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J.B.S.P. Sanstha's College, Panvel</a:t>
            </a:r>
            <a:endParaRPr lang="en-US" sz="900" dirty="0"/>
          </a:p>
        </p:txBody>
      </p:sp>
      <p:sp>
        <p:nvSpPr>
          <p:cNvPr id="35" name="Text 27"/>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5</a:t>
            </a:r>
            <a:endParaRPr lang="en-US" sz="900" dirty="0"/>
          </a:p>
        </p:txBody>
      </p:sp>
    </p:spTree>
  </p:cSld>
  <p:clrMapOvr>
    <a:masterClrMapping/>
  </p:clrMapOvr>
  <p:transition>
    <p:cover dir="r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685800"/>
          </a:xfrm>
          <a:prstGeom prst="rect">
            <a:avLst/>
          </a:prstGeom>
          <a:noFill/>
          <a:ln/>
        </p:spPr>
        <p:txBody>
          <a:bodyPr wrap="square" rtlCol="0" anchor="ctr"/>
          <a:lstStyle/>
          <a:p>
            <a:pPr marL="0" indent="0" algn="l">
              <a:buNone/>
            </a:pPr>
            <a:r>
              <a:rPr lang="en-US" sz="3200" b="1" dirty="0">
                <a:solidFill>
                  <a:srgbClr val="12395B"/>
                </a:solidFill>
                <a:latin typeface="Cambria" pitchFamily="34" charset="0"/>
                <a:ea typeface="Cambria" pitchFamily="34" charset="-122"/>
                <a:cs typeface="Cambria" pitchFamily="34" charset="-120"/>
              </a:rPr>
              <a:t>Disadvantages of Digital Marketing</a:t>
            </a:r>
            <a:endParaRPr lang="en-US" sz="3200" dirty="0"/>
          </a:p>
        </p:txBody>
      </p:sp>
      <p:sp>
        <p:nvSpPr>
          <p:cNvPr id="3" name="Shape 1"/>
          <p:cNvSpPr/>
          <p:nvPr/>
        </p:nvSpPr>
        <p:spPr>
          <a:xfrm>
            <a:off x="0" y="1170432"/>
            <a:ext cx="12188952" cy="18288"/>
          </a:xfrm>
          <a:prstGeom prst="rect">
            <a:avLst/>
          </a:prstGeom>
          <a:solidFill>
            <a:srgbClr val="E3E9EF"/>
          </a:solidFill>
          <a:ln/>
        </p:spPr>
      </p:sp>
      <p:sp>
        <p:nvSpPr>
          <p:cNvPr id="4" name="Shape 2"/>
          <p:cNvSpPr/>
          <p:nvPr/>
        </p:nvSpPr>
        <p:spPr>
          <a:xfrm>
            <a:off x="548640" y="1508760"/>
            <a:ext cx="3514344" cy="2103120"/>
          </a:xfrm>
          <a:prstGeom prst="roundRect">
            <a:avLst>
              <a:gd name="adj" fmla="val 5217"/>
            </a:avLst>
          </a:prstGeom>
          <a:solidFill>
            <a:srgbClr val="EAF3FB"/>
          </a:solidFill>
          <a:ln/>
          <a:effectLst>
            <a:outerShdw blurRad="101600" dist="25400" dir="5400000" algn="bl" rotWithShape="0">
              <a:srgbClr val="8090A0">
                <a:alpha val="18000"/>
              </a:srgbClr>
            </a:outerShdw>
          </a:effectLst>
        </p:spPr>
      </p:sp>
      <p:sp>
        <p:nvSpPr>
          <p:cNvPr id="5" name="Shape 3"/>
          <p:cNvSpPr/>
          <p:nvPr/>
        </p:nvSpPr>
        <p:spPr>
          <a:xfrm>
            <a:off x="749808" y="1709928"/>
            <a:ext cx="566928" cy="566928"/>
          </a:xfrm>
          <a:prstGeom prst="ellipse">
            <a:avLst/>
          </a:prstGeom>
          <a:solidFill>
            <a:srgbClr val="12395B"/>
          </a:solidFill>
          <a:ln/>
          <a:effectLst>
            <a:outerShdw blurRad="76200" dist="25400" dir="5400000" algn="bl" rotWithShape="0">
              <a:srgbClr val="808080">
                <a:alpha val="25000"/>
              </a:srgbClr>
            </a:outerShdw>
          </a:effectLst>
        </p:spPr>
      </p:sp>
      <p:pic>
        <p:nvPicPr>
          <p:cNvPr id="6" name="Image 0" descr="/home/claude/dm_ppt/assets/icons/competition.png"/>
          <p:cNvPicPr>
            <a:picLocks noChangeAspect="1"/>
          </p:cNvPicPr>
          <p:nvPr/>
        </p:nvPicPr>
        <p:blipFill>
          <a:blip r:embed="rId3"/>
          <a:stretch>
            <a:fillRect/>
          </a:stretch>
        </p:blipFill>
        <p:spPr>
          <a:xfrm>
            <a:off x="877367" y="1837487"/>
            <a:ext cx="311810" cy="311810"/>
          </a:xfrm>
          <a:prstGeom prst="rect">
            <a:avLst/>
          </a:prstGeom>
        </p:spPr>
      </p:pic>
      <p:sp>
        <p:nvSpPr>
          <p:cNvPr id="7" name="Text 4"/>
          <p:cNvSpPr/>
          <p:nvPr/>
        </p:nvSpPr>
        <p:spPr>
          <a:xfrm>
            <a:off x="749808" y="2331720"/>
            <a:ext cx="3112008" cy="310896"/>
          </a:xfrm>
          <a:prstGeom prst="rect">
            <a:avLst/>
          </a:prstGeom>
          <a:noFill/>
          <a:ln/>
        </p:spPr>
        <p:txBody>
          <a:bodyPr wrap="square" lIns="0" tIns="0" rIns="0" bIns="0" rtlCol="0" anchor="ctr"/>
          <a:lstStyle/>
          <a:p>
            <a:pPr marL="0" indent="0" algn="l">
              <a:buNone/>
            </a:pPr>
            <a:r>
              <a:rPr lang="en-US" sz="1400" b="1" dirty="0">
                <a:solidFill>
                  <a:srgbClr val="1B2430"/>
                </a:solidFill>
                <a:latin typeface="Calibri" pitchFamily="34" charset="0"/>
                <a:ea typeface="Calibri" pitchFamily="34" charset="-122"/>
                <a:cs typeface="Calibri" pitchFamily="34" charset="-120"/>
              </a:rPr>
              <a:t>High Competition</a:t>
            </a:r>
            <a:endParaRPr lang="en-US" sz="1400" dirty="0"/>
          </a:p>
        </p:txBody>
      </p:sp>
      <p:sp>
        <p:nvSpPr>
          <p:cNvPr id="8" name="Text 5"/>
          <p:cNvSpPr/>
          <p:nvPr/>
        </p:nvSpPr>
        <p:spPr>
          <a:xfrm>
            <a:off x="749808" y="2642616"/>
            <a:ext cx="3112008" cy="859536"/>
          </a:xfrm>
          <a:prstGeom prst="rect">
            <a:avLst/>
          </a:prstGeom>
          <a:noFill/>
          <a:ln/>
        </p:spPr>
        <p:txBody>
          <a:bodyPr wrap="square" lIns="0" tIns="0" rIns="0" bIns="0" rtlCol="0" anchor="t"/>
          <a:lstStyle/>
          <a:p>
            <a:pPr marL="0" indent="0" algn="l">
              <a:buNone/>
            </a:pPr>
            <a:r>
              <a:rPr lang="en-US" sz="1100" dirty="0">
                <a:solidFill>
                  <a:srgbClr val="5B6B79"/>
                </a:solidFill>
                <a:latin typeface="Calibri" pitchFamily="34" charset="0"/>
                <a:ea typeface="Calibri" pitchFamily="34" charset="-122"/>
                <a:cs typeface="Calibri" pitchFamily="34" charset="-120"/>
              </a:rPr>
              <a:t>Many brands compete for attention</a:t>
            </a:r>
            <a:endParaRPr lang="en-US" sz="1100" dirty="0"/>
          </a:p>
        </p:txBody>
      </p:sp>
      <p:sp>
        <p:nvSpPr>
          <p:cNvPr id="9" name="Shape 6"/>
          <p:cNvSpPr/>
          <p:nvPr/>
        </p:nvSpPr>
        <p:spPr>
          <a:xfrm>
            <a:off x="4337304" y="1508760"/>
            <a:ext cx="3514344" cy="2103120"/>
          </a:xfrm>
          <a:prstGeom prst="roundRect">
            <a:avLst>
              <a:gd name="adj" fmla="val 5217"/>
            </a:avLst>
          </a:prstGeom>
          <a:solidFill>
            <a:srgbClr val="EAF3FB"/>
          </a:solidFill>
          <a:ln/>
          <a:effectLst>
            <a:outerShdw blurRad="101600" dist="25400" dir="5400000" algn="bl" rotWithShape="0">
              <a:srgbClr val="8090A0">
                <a:alpha val="18000"/>
              </a:srgbClr>
            </a:outerShdw>
          </a:effectLst>
        </p:spPr>
      </p:sp>
      <p:sp>
        <p:nvSpPr>
          <p:cNvPr id="10" name="Shape 7"/>
          <p:cNvSpPr/>
          <p:nvPr/>
        </p:nvSpPr>
        <p:spPr>
          <a:xfrm>
            <a:off x="4538472" y="1709928"/>
            <a:ext cx="566928" cy="566928"/>
          </a:xfrm>
          <a:prstGeom prst="ellipse">
            <a:avLst/>
          </a:prstGeom>
          <a:solidFill>
            <a:srgbClr val="12395B"/>
          </a:solidFill>
          <a:ln/>
          <a:effectLst>
            <a:outerShdw blurRad="76200" dist="25400" dir="5400000" algn="bl" rotWithShape="0">
              <a:srgbClr val="808080">
                <a:alpha val="25000"/>
              </a:srgbClr>
            </a:outerShdw>
          </a:effectLst>
        </p:spPr>
      </p:sp>
      <p:pic>
        <p:nvPicPr>
          <p:cNvPr id="11" name="Image 1" descr="/home/claude/dm_ppt/assets/icons/privacy.png"/>
          <p:cNvPicPr>
            <a:picLocks noChangeAspect="1"/>
          </p:cNvPicPr>
          <p:nvPr/>
        </p:nvPicPr>
        <p:blipFill>
          <a:blip r:embed="rId4"/>
          <a:stretch>
            <a:fillRect/>
          </a:stretch>
        </p:blipFill>
        <p:spPr>
          <a:xfrm>
            <a:off x="4666031" y="1837487"/>
            <a:ext cx="311810" cy="311810"/>
          </a:xfrm>
          <a:prstGeom prst="rect">
            <a:avLst/>
          </a:prstGeom>
        </p:spPr>
      </p:pic>
      <p:sp>
        <p:nvSpPr>
          <p:cNvPr id="12" name="Text 8"/>
          <p:cNvSpPr/>
          <p:nvPr/>
        </p:nvSpPr>
        <p:spPr>
          <a:xfrm>
            <a:off x="4538472" y="2331720"/>
            <a:ext cx="3112008" cy="310896"/>
          </a:xfrm>
          <a:prstGeom prst="rect">
            <a:avLst/>
          </a:prstGeom>
          <a:noFill/>
          <a:ln/>
        </p:spPr>
        <p:txBody>
          <a:bodyPr wrap="square" lIns="0" tIns="0" rIns="0" bIns="0" rtlCol="0" anchor="ctr"/>
          <a:lstStyle/>
          <a:p>
            <a:pPr marL="0" indent="0" algn="l">
              <a:buNone/>
            </a:pPr>
            <a:r>
              <a:rPr lang="en-US" sz="1400" b="1" dirty="0">
                <a:solidFill>
                  <a:srgbClr val="1B2430"/>
                </a:solidFill>
                <a:latin typeface="Calibri" pitchFamily="34" charset="0"/>
                <a:ea typeface="Calibri" pitchFamily="34" charset="-122"/>
                <a:cs typeface="Calibri" pitchFamily="34" charset="-120"/>
              </a:rPr>
              <a:t>Privacy Issues</a:t>
            </a:r>
            <a:endParaRPr lang="en-US" sz="1400" dirty="0"/>
          </a:p>
        </p:txBody>
      </p:sp>
      <p:sp>
        <p:nvSpPr>
          <p:cNvPr id="13" name="Text 9"/>
          <p:cNvSpPr/>
          <p:nvPr/>
        </p:nvSpPr>
        <p:spPr>
          <a:xfrm>
            <a:off x="4538472" y="2642616"/>
            <a:ext cx="3112008" cy="859536"/>
          </a:xfrm>
          <a:prstGeom prst="rect">
            <a:avLst/>
          </a:prstGeom>
          <a:noFill/>
          <a:ln/>
        </p:spPr>
        <p:txBody>
          <a:bodyPr wrap="square" lIns="0" tIns="0" rIns="0" bIns="0" rtlCol="0" anchor="t"/>
          <a:lstStyle/>
          <a:p>
            <a:pPr marL="0" indent="0" algn="l">
              <a:buNone/>
            </a:pPr>
            <a:r>
              <a:rPr lang="en-US" sz="1100" dirty="0">
                <a:solidFill>
                  <a:srgbClr val="5B6B79"/>
                </a:solidFill>
                <a:latin typeface="Calibri" pitchFamily="34" charset="0"/>
                <a:ea typeface="Calibri" pitchFamily="34" charset="-122"/>
                <a:cs typeface="Calibri" pitchFamily="34" charset="-120"/>
              </a:rPr>
              <a:t>Customer data misuse concerns</a:t>
            </a:r>
            <a:endParaRPr lang="en-US" sz="1100" dirty="0"/>
          </a:p>
        </p:txBody>
      </p:sp>
      <p:sp>
        <p:nvSpPr>
          <p:cNvPr id="14" name="Shape 10"/>
          <p:cNvSpPr/>
          <p:nvPr/>
        </p:nvSpPr>
        <p:spPr>
          <a:xfrm>
            <a:off x="8125968" y="1508760"/>
            <a:ext cx="3514344" cy="2103120"/>
          </a:xfrm>
          <a:prstGeom prst="roundRect">
            <a:avLst>
              <a:gd name="adj" fmla="val 5217"/>
            </a:avLst>
          </a:prstGeom>
          <a:solidFill>
            <a:srgbClr val="EAF3FB"/>
          </a:solidFill>
          <a:ln/>
          <a:effectLst>
            <a:outerShdw blurRad="101600" dist="25400" dir="5400000" algn="bl" rotWithShape="0">
              <a:srgbClr val="8090A0">
                <a:alpha val="18000"/>
              </a:srgbClr>
            </a:outerShdw>
          </a:effectLst>
        </p:spPr>
      </p:sp>
      <p:sp>
        <p:nvSpPr>
          <p:cNvPr id="15" name="Shape 11"/>
          <p:cNvSpPr/>
          <p:nvPr/>
        </p:nvSpPr>
        <p:spPr>
          <a:xfrm>
            <a:off x="8327136" y="1709928"/>
            <a:ext cx="566928" cy="566928"/>
          </a:xfrm>
          <a:prstGeom prst="ellipse">
            <a:avLst/>
          </a:prstGeom>
          <a:solidFill>
            <a:srgbClr val="12395B"/>
          </a:solidFill>
          <a:ln/>
          <a:effectLst>
            <a:outerShdw blurRad="76200" dist="25400" dir="5400000" algn="bl" rotWithShape="0">
              <a:srgbClr val="808080">
                <a:alpha val="25000"/>
              </a:srgbClr>
            </a:outerShdw>
          </a:effectLst>
        </p:spPr>
      </p:sp>
      <p:pic>
        <p:nvPicPr>
          <p:cNvPr id="16" name="Image 2" descr="/home/claude/dm_ppt/assets/icons/skills.png"/>
          <p:cNvPicPr>
            <a:picLocks noChangeAspect="1"/>
          </p:cNvPicPr>
          <p:nvPr/>
        </p:nvPicPr>
        <p:blipFill>
          <a:blip r:embed="rId5"/>
          <a:stretch>
            <a:fillRect/>
          </a:stretch>
        </p:blipFill>
        <p:spPr>
          <a:xfrm>
            <a:off x="8454695" y="1837487"/>
            <a:ext cx="311810" cy="311810"/>
          </a:xfrm>
          <a:prstGeom prst="rect">
            <a:avLst/>
          </a:prstGeom>
        </p:spPr>
      </p:pic>
      <p:sp>
        <p:nvSpPr>
          <p:cNvPr id="17" name="Text 12"/>
          <p:cNvSpPr/>
          <p:nvPr/>
        </p:nvSpPr>
        <p:spPr>
          <a:xfrm>
            <a:off x="8327136" y="2331720"/>
            <a:ext cx="3112008" cy="310896"/>
          </a:xfrm>
          <a:prstGeom prst="rect">
            <a:avLst/>
          </a:prstGeom>
          <a:noFill/>
          <a:ln/>
        </p:spPr>
        <p:txBody>
          <a:bodyPr wrap="square" lIns="0" tIns="0" rIns="0" bIns="0" rtlCol="0" anchor="ctr"/>
          <a:lstStyle/>
          <a:p>
            <a:pPr marL="0" indent="0" algn="l">
              <a:buNone/>
            </a:pPr>
            <a:r>
              <a:rPr lang="en-US" sz="1400" b="1" dirty="0">
                <a:solidFill>
                  <a:srgbClr val="1B2430"/>
                </a:solidFill>
                <a:latin typeface="Calibri" pitchFamily="34" charset="0"/>
                <a:ea typeface="Calibri" pitchFamily="34" charset="-122"/>
                <a:cs typeface="Calibri" pitchFamily="34" charset="-120"/>
              </a:rPr>
              <a:t>Requires Skills</a:t>
            </a:r>
            <a:endParaRPr lang="en-US" sz="1400" dirty="0"/>
          </a:p>
        </p:txBody>
      </p:sp>
      <p:sp>
        <p:nvSpPr>
          <p:cNvPr id="18" name="Text 13"/>
          <p:cNvSpPr/>
          <p:nvPr/>
        </p:nvSpPr>
        <p:spPr>
          <a:xfrm>
            <a:off x="8327136" y="2642616"/>
            <a:ext cx="3112008" cy="859536"/>
          </a:xfrm>
          <a:prstGeom prst="rect">
            <a:avLst/>
          </a:prstGeom>
          <a:noFill/>
          <a:ln/>
        </p:spPr>
        <p:txBody>
          <a:bodyPr wrap="square" lIns="0" tIns="0" rIns="0" bIns="0" rtlCol="0" anchor="t"/>
          <a:lstStyle/>
          <a:p>
            <a:pPr marL="0" indent="0" algn="l">
              <a:buNone/>
            </a:pPr>
            <a:r>
              <a:rPr lang="en-US" sz="1100" dirty="0">
                <a:solidFill>
                  <a:srgbClr val="5B6B79"/>
                </a:solidFill>
                <a:latin typeface="Calibri" pitchFamily="34" charset="0"/>
                <a:ea typeface="Calibri" pitchFamily="34" charset="-122"/>
                <a:cs typeface="Calibri" pitchFamily="34" charset="-120"/>
              </a:rPr>
              <a:t>Needs training and constant learning</a:t>
            </a:r>
            <a:endParaRPr lang="en-US" sz="1100" dirty="0"/>
          </a:p>
        </p:txBody>
      </p:sp>
      <p:sp>
        <p:nvSpPr>
          <p:cNvPr id="19" name="Shape 14"/>
          <p:cNvSpPr/>
          <p:nvPr/>
        </p:nvSpPr>
        <p:spPr>
          <a:xfrm>
            <a:off x="548640" y="3840480"/>
            <a:ext cx="3514344" cy="2103120"/>
          </a:xfrm>
          <a:prstGeom prst="roundRect">
            <a:avLst>
              <a:gd name="adj" fmla="val 5217"/>
            </a:avLst>
          </a:prstGeom>
          <a:solidFill>
            <a:srgbClr val="EAF3FB"/>
          </a:solidFill>
          <a:ln/>
          <a:effectLst>
            <a:outerShdw blurRad="101600" dist="25400" dir="5400000" algn="bl" rotWithShape="0">
              <a:srgbClr val="8090A0">
                <a:alpha val="18000"/>
              </a:srgbClr>
            </a:outerShdw>
          </a:effectLst>
        </p:spPr>
      </p:sp>
      <p:sp>
        <p:nvSpPr>
          <p:cNvPr id="20" name="Shape 15"/>
          <p:cNvSpPr/>
          <p:nvPr/>
        </p:nvSpPr>
        <p:spPr>
          <a:xfrm>
            <a:off x="749808" y="4041648"/>
            <a:ext cx="566928" cy="566928"/>
          </a:xfrm>
          <a:prstGeom prst="ellipse">
            <a:avLst/>
          </a:prstGeom>
          <a:solidFill>
            <a:srgbClr val="12395B"/>
          </a:solidFill>
          <a:ln/>
          <a:effectLst>
            <a:outerShdw blurRad="76200" dist="25400" dir="5400000" algn="bl" rotWithShape="0">
              <a:srgbClr val="808080">
                <a:alpha val="25000"/>
              </a:srgbClr>
            </a:outerShdw>
          </a:effectLst>
        </p:spPr>
      </p:sp>
      <p:pic>
        <p:nvPicPr>
          <p:cNvPr id="21" name="Image 3" descr="/home/claude/dm_ppt/assets/icons/algorithm.png"/>
          <p:cNvPicPr>
            <a:picLocks noChangeAspect="1"/>
          </p:cNvPicPr>
          <p:nvPr/>
        </p:nvPicPr>
        <p:blipFill>
          <a:blip r:embed="rId6"/>
          <a:stretch>
            <a:fillRect/>
          </a:stretch>
        </p:blipFill>
        <p:spPr>
          <a:xfrm>
            <a:off x="877367" y="4169207"/>
            <a:ext cx="311810" cy="311810"/>
          </a:xfrm>
          <a:prstGeom prst="rect">
            <a:avLst/>
          </a:prstGeom>
        </p:spPr>
      </p:pic>
      <p:sp>
        <p:nvSpPr>
          <p:cNvPr id="22" name="Text 16"/>
          <p:cNvSpPr/>
          <p:nvPr/>
        </p:nvSpPr>
        <p:spPr>
          <a:xfrm>
            <a:off x="749808" y="4663440"/>
            <a:ext cx="3112008" cy="310896"/>
          </a:xfrm>
          <a:prstGeom prst="rect">
            <a:avLst/>
          </a:prstGeom>
          <a:noFill/>
          <a:ln/>
        </p:spPr>
        <p:txBody>
          <a:bodyPr wrap="square" lIns="0" tIns="0" rIns="0" bIns="0" rtlCol="0" anchor="ctr"/>
          <a:lstStyle/>
          <a:p>
            <a:pPr marL="0" indent="0" algn="l">
              <a:buNone/>
            </a:pPr>
            <a:r>
              <a:rPr lang="en-US" sz="1400" b="1" dirty="0">
                <a:solidFill>
                  <a:srgbClr val="1B2430"/>
                </a:solidFill>
                <a:latin typeface="Calibri" pitchFamily="34" charset="0"/>
                <a:ea typeface="Calibri" pitchFamily="34" charset="-122"/>
                <a:cs typeface="Calibri" pitchFamily="34" charset="-120"/>
              </a:rPr>
              <a:t>Algorithm Changes</a:t>
            </a:r>
            <a:endParaRPr lang="en-US" sz="1400" dirty="0"/>
          </a:p>
        </p:txBody>
      </p:sp>
      <p:sp>
        <p:nvSpPr>
          <p:cNvPr id="23" name="Text 17"/>
          <p:cNvSpPr/>
          <p:nvPr/>
        </p:nvSpPr>
        <p:spPr>
          <a:xfrm>
            <a:off x="749808" y="4974336"/>
            <a:ext cx="3112008" cy="859536"/>
          </a:xfrm>
          <a:prstGeom prst="rect">
            <a:avLst/>
          </a:prstGeom>
          <a:noFill/>
          <a:ln/>
        </p:spPr>
        <p:txBody>
          <a:bodyPr wrap="square" lIns="0" tIns="0" rIns="0" bIns="0" rtlCol="0" anchor="t"/>
          <a:lstStyle/>
          <a:p>
            <a:pPr marL="0" indent="0" algn="l">
              <a:buNone/>
            </a:pPr>
            <a:r>
              <a:rPr lang="en-US" sz="1100" dirty="0">
                <a:solidFill>
                  <a:srgbClr val="5B6B79"/>
                </a:solidFill>
                <a:latin typeface="Calibri" pitchFamily="34" charset="0"/>
                <a:ea typeface="Calibri" pitchFamily="34" charset="-122"/>
                <a:cs typeface="Calibri" pitchFamily="34" charset="-120"/>
              </a:rPr>
              <a:t>Platform rules shift without warning</a:t>
            </a:r>
            <a:endParaRPr lang="en-US" sz="1100" dirty="0"/>
          </a:p>
        </p:txBody>
      </p:sp>
      <p:sp>
        <p:nvSpPr>
          <p:cNvPr id="24" name="Shape 18"/>
          <p:cNvSpPr/>
          <p:nvPr/>
        </p:nvSpPr>
        <p:spPr>
          <a:xfrm>
            <a:off x="4337304" y="3840480"/>
            <a:ext cx="3514344" cy="2103120"/>
          </a:xfrm>
          <a:prstGeom prst="roundRect">
            <a:avLst>
              <a:gd name="adj" fmla="val 5217"/>
            </a:avLst>
          </a:prstGeom>
          <a:solidFill>
            <a:srgbClr val="EAF3FB"/>
          </a:solidFill>
          <a:ln/>
          <a:effectLst>
            <a:outerShdw blurRad="101600" dist="25400" dir="5400000" algn="bl" rotWithShape="0">
              <a:srgbClr val="8090A0">
                <a:alpha val="18000"/>
              </a:srgbClr>
            </a:outerShdw>
          </a:effectLst>
        </p:spPr>
      </p:sp>
      <p:sp>
        <p:nvSpPr>
          <p:cNvPr id="25" name="Shape 19"/>
          <p:cNvSpPr/>
          <p:nvPr/>
        </p:nvSpPr>
        <p:spPr>
          <a:xfrm>
            <a:off x="4538472" y="4041648"/>
            <a:ext cx="566928" cy="566928"/>
          </a:xfrm>
          <a:prstGeom prst="ellipse">
            <a:avLst/>
          </a:prstGeom>
          <a:solidFill>
            <a:srgbClr val="12395B"/>
          </a:solidFill>
          <a:ln/>
          <a:effectLst>
            <a:outerShdw blurRad="76200" dist="25400" dir="5400000" algn="bl" rotWithShape="0">
              <a:srgbClr val="808080">
                <a:alpha val="25000"/>
              </a:srgbClr>
            </a:outerShdw>
          </a:effectLst>
        </p:spPr>
      </p:sp>
      <p:pic>
        <p:nvPicPr>
          <p:cNvPr id="26" name="Image 4" descr="/home/claude/dm_ppt/assets/icons/fakereviews.png"/>
          <p:cNvPicPr>
            <a:picLocks noChangeAspect="1"/>
          </p:cNvPicPr>
          <p:nvPr/>
        </p:nvPicPr>
        <p:blipFill>
          <a:blip r:embed="rId7"/>
          <a:stretch>
            <a:fillRect/>
          </a:stretch>
        </p:blipFill>
        <p:spPr>
          <a:xfrm>
            <a:off x="4666031" y="4169207"/>
            <a:ext cx="311810" cy="311810"/>
          </a:xfrm>
          <a:prstGeom prst="rect">
            <a:avLst/>
          </a:prstGeom>
        </p:spPr>
      </p:pic>
      <p:sp>
        <p:nvSpPr>
          <p:cNvPr id="27" name="Text 20"/>
          <p:cNvSpPr/>
          <p:nvPr/>
        </p:nvSpPr>
        <p:spPr>
          <a:xfrm>
            <a:off x="4538472" y="4663440"/>
            <a:ext cx="3112008" cy="310896"/>
          </a:xfrm>
          <a:prstGeom prst="rect">
            <a:avLst/>
          </a:prstGeom>
          <a:noFill/>
          <a:ln/>
        </p:spPr>
        <p:txBody>
          <a:bodyPr wrap="square" lIns="0" tIns="0" rIns="0" bIns="0" rtlCol="0" anchor="ctr"/>
          <a:lstStyle/>
          <a:p>
            <a:pPr marL="0" indent="0" algn="l">
              <a:buNone/>
            </a:pPr>
            <a:r>
              <a:rPr lang="en-US" sz="1400" b="1" dirty="0">
                <a:solidFill>
                  <a:srgbClr val="1B2430"/>
                </a:solidFill>
                <a:latin typeface="Calibri" pitchFamily="34" charset="0"/>
                <a:ea typeface="Calibri" pitchFamily="34" charset="-122"/>
                <a:cs typeface="Calibri" pitchFamily="34" charset="-120"/>
              </a:rPr>
              <a:t>Fake Reviews</a:t>
            </a:r>
            <a:endParaRPr lang="en-US" sz="1400" dirty="0"/>
          </a:p>
        </p:txBody>
      </p:sp>
      <p:sp>
        <p:nvSpPr>
          <p:cNvPr id="28" name="Text 21"/>
          <p:cNvSpPr/>
          <p:nvPr/>
        </p:nvSpPr>
        <p:spPr>
          <a:xfrm>
            <a:off x="4538472" y="4974336"/>
            <a:ext cx="3112008" cy="859536"/>
          </a:xfrm>
          <a:prstGeom prst="rect">
            <a:avLst/>
          </a:prstGeom>
          <a:noFill/>
          <a:ln/>
        </p:spPr>
        <p:txBody>
          <a:bodyPr wrap="square" lIns="0" tIns="0" rIns="0" bIns="0" rtlCol="0" anchor="t"/>
          <a:lstStyle/>
          <a:p>
            <a:pPr marL="0" indent="0" algn="l">
              <a:buNone/>
            </a:pPr>
            <a:r>
              <a:rPr lang="en-US" sz="1100" dirty="0">
                <a:solidFill>
                  <a:srgbClr val="5B6B79"/>
                </a:solidFill>
                <a:latin typeface="Calibri" pitchFamily="34" charset="0"/>
                <a:ea typeface="Calibri" pitchFamily="34" charset="-122"/>
                <a:cs typeface="Calibri" pitchFamily="34" charset="-120"/>
              </a:rPr>
              <a:t>Can mislead or harm trust</a:t>
            </a:r>
            <a:endParaRPr lang="en-US" sz="1100" dirty="0"/>
          </a:p>
        </p:txBody>
      </p:sp>
      <p:sp>
        <p:nvSpPr>
          <p:cNvPr id="29" name="Shape 22"/>
          <p:cNvSpPr/>
          <p:nvPr/>
        </p:nvSpPr>
        <p:spPr>
          <a:xfrm>
            <a:off x="8125968" y="3840480"/>
            <a:ext cx="3514344" cy="2103120"/>
          </a:xfrm>
          <a:prstGeom prst="roundRect">
            <a:avLst>
              <a:gd name="adj" fmla="val 5217"/>
            </a:avLst>
          </a:prstGeom>
          <a:solidFill>
            <a:srgbClr val="EAF3FB"/>
          </a:solidFill>
          <a:ln/>
          <a:effectLst>
            <a:outerShdw blurRad="101600" dist="25400" dir="5400000" algn="bl" rotWithShape="0">
              <a:srgbClr val="8090A0">
                <a:alpha val="18000"/>
              </a:srgbClr>
            </a:outerShdw>
          </a:effectLst>
        </p:spPr>
      </p:sp>
      <p:sp>
        <p:nvSpPr>
          <p:cNvPr id="30" name="Shape 23"/>
          <p:cNvSpPr/>
          <p:nvPr/>
        </p:nvSpPr>
        <p:spPr>
          <a:xfrm>
            <a:off x="8327136" y="4041648"/>
            <a:ext cx="566928" cy="566928"/>
          </a:xfrm>
          <a:prstGeom prst="ellipse">
            <a:avLst/>
          </a:prstGeom>
          <a:solidFill>
            <a:srgbClr val="12395B"/>
          </a:solidFill>
          <a:ln/>
          <a:effectLst>
            <a:outerShdw blurRad="76200" dist="25400" dir="5400000" algn="bl" rotWithShape="0">
              <a:srgbClr val="808080">
                <a:alpha val="25000"/>
              </a:srgbClr>
            </a:outerShdw>
          </a:effectLst>
        </p:spPr>
      </p:sp>
      <p:pic>
        <p:nvPicPr>
          <p:cNvPr id="31" name="Image 5" descr="/home/claude/dm_ppt/assets/icons/timeconsuming.png"/>
          <p:cNvPicPr>
            <a:picLocks noChangeAspect="1"/>
          </p:cNvPicPr>
          <p:nvPr/>
        </p:nvPicPr>
        <p:blipFill>
          <a:blip r:embed="rId8"/>
          <a:stretch>
            <a:fillRect/>
          </a:stretch>
        </p:blipFill>
        <p:spPr>
          <a:xfrm>
            <a:off x="8454695" y="4169207"/>
            <a:ext cx="311810" cy="311810"/>
          </a:xfrm>
          <a:prstGeom prst="rect">
            <a:avLst/>
          </a:prstGeom>
        </p:spPr>
      </p:pic>
      <p:sp>
        <p:nvSpPr>
          <p:cNvPr id="32" name="Text 24"/>
          <p:cNvSpPr/>
          <p:nvPr/>
        </p:nvSpPr>
        <p:spPr>
          <a:xfrm>
            <a:off x="8327136" y="4663440"/>
            <a:ext cx="3112008" cy="310896"/>
          </a:xfrm>
          <a:prstGeom prst="rect">
            <a:avLst/>
          </a:prstGeom>
          <a:noFill/>
          <a:ln/>
        </p:spPr>
        <p:txBody>
          <a:bodyPr wrap="square" lIns="0" tIns="0" rIns="0" bIns="0" rtlCol="0" anchor="ctr"/>
          <a:lstStyle/>
          <a:p>
            <a:pPr marL="0" indent="0" algn="l">
              <a:buNone/>
            </a:pPr>
            <a:r>
              <a:rPr lang="en-US" sz="1400" b="1" dirty="0">
                <a:solidFill>
                  <a:srgbClr val="1B2430"/>
                </a:solidFill>
                <a:latin typeface="Calibri" pitchFamily="34" charset="0"/>
                <a:ea typeface="Calibri" pitchFamily="34" charset="-122"/>
                <a:cs typeface="Calibri" pitchFamily="34" charset="-120"/>
              </a:rPr>
              <a:t>Time Consuming</a:t>
            </a:r>
            <a:endParaRPr lang="en-US" sz="1400" dirty="0"/>
          </a:p>
        </p:txBody>
      </p:sp>
      <p:sp>
        <p:nvSpPr>
          <p:cNvPr id="33" name="Text 25"/>
          <p:cNvSpPr/>
          <p:nvPr/>
        </p:nvSpPr>
        <p:spPr>
          <a:xfrm>
            <a:off x="8327136" y="4974336"/>
            <a:ext cx="3112008" cy="859536"/>
          </a:xfrm>
          <a:prstGeom prst="rect">
            <a:avLst/>
          </a:prstGeom>
          <a:noFill/>
          <a:ln/>
        </p:spPr>
        <p:txBody>
          <a:bodyPr wrap="square" lIns="0" tIns="0" rIns="0" bIns="0" rtlCol="0" anchor="t"/>
          <a:lstStyle/>
          <a:p>
            <a:pPr marL="0" indent="0" algn="l">
              <a:buNone/>
            </a:pPr>
            <a:r>
              <a:rPr lang="en-US" sz="1100" dirty="0">
                <a:solidFill>
                  <a:srgbClr val="5B6B79"/>
                </a:solidFill>
                <a:latin typeface="Calibri" pitchFamily="34" charset="0"/>
                <a:ea typeface="Calibri" pitchFamily="34" charset="-122"/>
                <a:cs typeface="Calibri" pitchFamily="34" charset="-120"/>
              </a:rPr>
              <a:t>Results take patience and effort</a:t>
            </a:r>
            <a:endParaRPr lang="en-US" sz="1100" dirty="0"/>
          </a:p>
        </p:txBody>
      </p:sp>
      <p:sp>
        <p:nvSpPr>
          <p:cNvPr id="34" name="Text 26"/>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J.B.S.P. Sanstha's College, Panvel</a:t>
            </a:r>
            <a:endParaRPr lang="en-US" sz="900" dirty="0"/>
          </a:p>
        </p:txBody>
      </p:sp>
      <p:sp>
        <p:nvSpPr>
          <p:cNvPr id="35" name="Text 27"/>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6</a:t>
            </a:r>
            <a:endParaRPr lang="en-US" sz="900" dirty="0"/>
          </a:p>
        </p:txBody>
      </p:sp>
    </p:spTree>
  </p:cSld>
  <p:clrMapOvr>
    <a:masterClrMapping/>
  </p:clrMapOvr>
  <p:transition>
    <p:wip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685800"/>
          </a:xfrm>
          <a:prstGeom prst="rect">
            <a:avLst/>
          </a:prstGeom>
          <a:noFill/>
          <a:ln/>
        </p:spPr>
        <p:txBody>
          <a:bodyPr wrap="square" rtlCol="0" anchor="ctr"/>
          <a:lstStyle/>
          <a:p>
            <a:pPr marL="0" indent="0" algn="l">
              <a:buNone/>
            </a:pPr>
            <a:r>
              <a:rPr lang="en-US" sz="3200" b="1" dirty="0">
                <a:solidFill>
                  <a:srgbClr val="12395B"/>
                </a:solidFill>
                <a:latin typeface="Cambria" pitchFamily="34" charset="0"/>
                <a:ea typeface="Cambria" pitchFamily="34" charset="-122"/>
                <a:cs typeface="Cambria" pitchFamily="34" charset="-120"/>
              </a:rPr>
              <a:t>Digital Marketing Process</a:t>
            </a:r>
            <a:endParaRPr lang="en-US" sz="3200" dirty="0"/>
          </a:p>
        </p:txBody>
      </p:sp>
      <p:sp>
        <p:nvSpPr>
          <p:cNvPr id="3" name="Shape 1"/>
          <p:cNvSpPr/>
          <p:nvPr/>
        </p:nvSpPr>
        <p:spPr>
          <a:xfrm>
            <a:off x="0" y="1170432"/>
            <a:ext cx="12188952" cy="18288"/>
          </a:xfrm>
          <a:prstGeom prst="rect">
            <a:avLst/>
          </a:prstGeom>
          <a:solidFill>
            <a:srgbClr val="E3E9EF"/>
          </a:solidFill>
          <a:ln/>
        </p:spPr>
      </p:sp>
      <p:sp>
        <p:nvSpPr>
          <p:cNvPr id="4" name="Shape 2"/>
          <p:cNvSpPr/>
          <p:nvPr/>
        </p:nvSpPr>
        <p:spPr>
          <a:xfrm>
            <a:off x="914400" y="1920240"/>
            <a:ext cx="960120" cy="960120"/>
          </a:xfrm>
          <a:prstGeom prst="ellipse">
            <a:avLst/>
          </a:prstGeom>
          <a:solidFill>
            <a:srgbClr val="1B6FA8"/>
          </a:solidFill>
          <a:ln/>
          <a:effectLst>
            <a:outerShdw blurRad="76200" dist="25400" dir="5400000" algn="bl" rotWithShape="0">
              <a:srgbClr val="808080">
                <a:alpha val="25000"/>
              </a:srgbClr>
            </a:outerShdw>
          </a:effectLst>
        </p:spPr>
      </p:sp>
      <p:pic>
        <p:nvPicPr>
          <p:cNvPr id="5" name="Image 0" descr="/home/claude/dm_ppt/assets/icons/p_research.png"/>
          <p:cNvPicPr>
            <a:picLocks noChangeAspect="1"/>
          </p:cNvPicPr>
          <p:nvPr/>
        </p:nvPicPr>
        <p:blipFill>
          <a:blip r:embed="rId3"/>
          <a:stretch>
            <a:fillRect/>
          </a:stretch>
        </p:blipFill>
        <p:spPr>
          <a:xfrm>
            <a:off x="1154430" y="2160270"/>
            <a:ext cx="480060" cy="480060"/>
          </a:xfrm>
          <a:prstGeom prst="rect">
            <a:avLst/>
          </a:prstGeom>
        </p:spPr>
      </p:pic>
      <p:sp>
        <p:nvSpPr>
          <p:cNvPr id="6" name="Text 3"/>
          <p:cNvSpPr/>
          <p:nvPr/>
        </p:nvSpPr>
        <p:spPr>
          <a:xfrm>
            <a:off x="548640" y="2953512"/>
            <a:ext cx="1691640" cy="457200"/>
          </a:xfrm>
          <a:prstGeom prst="rect">
            <a:avLst/>
          </a:prstGeom>
          <a:noFill/>
          <a:ln/>
        </p:spPr>
        <p:txBody>
          <a:bodyPr wrap="square" rtlCol="0" anchor="ctr"/>
          <a:lstStyle/>
          <a:p>
            <a:pPr marL="0" indent="0" algn="ctr">
              <a:buNone/>
            </a:pPr>
            <a:r>
              <a:rPr lang="en-US" sz="1200" b="1" dirty="0">
                <a:solidFill>
                  <a:srgbClr val="1B2430"/>
                </a:solidFill>
                <a:latin typeface="Calibri" pitchFamily="34" charset="0"/>
                <a:ea typeface="Calibri" pitchFamily="34" charset="-122"/>
                <a:cs typeface="Calibri" pitchFamily="34" charset="-120"/>
              </a:rPr>
              <a:t>1. Research</a:t>
            </a:r>
            <a:endParaRPr lang="en-US" sz="1200" dirty="0"/>
          </a:p>
        </p:txBody>
      </p:sp>
      <p:sp>
        <p:nvSpPr>
          <p:cNvPr id="7" name="Shape 4"/>
          <p:cNvSpPr/>
          <p:nvPr/>
        </p:nvSpPr>
        <p:spPr>
          <a:xfrm>
            <a:off x="2200504" y="2318004"/>
            <a:ext cx="1521257" cy="164592"/>
          </a:xfrm>
          <a:prstGeom prst="rightArrow">
            <a:avLst/>
          </a:prstGeom>
          <a:solidFill>
            <a:srgbClr val="F5A623"/>
          </a:solidFill>
          <a:ln/>
        </p:spPr>
      </p:sp>
      <p:sp>
        <p:nvSpPr>
          <p:cNvPr id="8" name="Shape 5"/>
          <p:cNvSpPr/>
          <p:nvPr/>
        </p:nvSpPr>
        <p:spPr>
          <a:xfrm>
            <a:off x="4047744" y="1920240"/>
            <a:ext cx="960120" cy="960120"/>
          </a:xfrm>
          <a:prstGeom prst="ellipse">
            <a:avLst/>
          </a:prstGeom>
          <a:solidFill>
            <a:srgbClr val="12395B"/>
          </a:solidFill>
          <a:ln/>
          <a:effectLst>
            <a:outerShdw blurRad="76200" dist="25400" dir="5400000" algn="bl" rotWithShape="0">
              <a:srgbClr val="808080">
                <a:alpha val="25000"/>
              </a:srgbClr>
            </a:outerShdw>
          </a:effectLst>
        </p:spPr>
      </p:sp>
      <p:pic>
        <p:nvPicPr>
          <p:cNvPr id="9" name="Image 1" descr="/home/claude/dm_ppt/assets/icons/p_planning.png"/>
          <p:cNvPicPr>
            <a:picLocks noChangeAspect="1"/>
          </p:cNvPicPr>
          <p:nvPr/>
        </p:nvPicPr>
        <p:blipFill>
          <a:blip r:embed="rId4"/>
          <a:stretch>
            <a:fillRect/>
          </a:stretch>
        </p:blipFill>
        <p:spPr>
          <a:xfrm>
            <a:off x="4287774" y="2160270"/>
            <a:ext cx="480060" cy="480060"/>
          </a:xfrm>
          <a:prstGeom prst="rect">
            <a:avLst/>
          </a:prstGeom>
        </p:spPr>
      </p:pic>
      <p:sp>
        <p:nvSpPr>
          <p:cNvPr id="10" name="Text 6"/>
          <p:cNvSpPr/>
          <p:nvPr/>
        </p:nvSpPr>
        <p:spPr>
          <a:xfrm>
            <a:off x="3681984" y="2953512"/>
            <a:ext cx="1691640" cy="457200"/>
          </a:xfrm>
          <a:prstGeom prst="rect">
            <a:avLst/>
          </a:prstGeom>
          <a:noFill/>
          <a:ln/>
        </p:spPr>
        <p:txBody>
          <a:bodyPr wrap="square" rtlCol="0" anchor="ctr"/>
          <a:lstStyle/>
          <a:p>
            <a:pPr marL="0" indent="0" algn="ctr">
              <a:buNone/>
            </a:pPr>
            <a:r>
              <a:rPr lang="en-US" sz="1200" b="1" dirty="0">
                <a:solidFill>
                  <a:srgbClr val="1B2430"/>
                </a:solidFill>
                <a:latin typeface="Calibri" pitchFamily="34" charset="0"/>
                <a:ea typeface="Calibri" pitchFamily="34" charset="-122"/>
                <a:cs typeface="Calibri" pitchFamily="34" charset="-120"/>
              </a:rPr>
              <a:t>2. Planning</a:t>
            </a:r>
            <a:endParaRPr lang="en-US" sz="1200" dirty="0"/>
          </a:p>
        </p:txBody>
      </p:sp>
      <p:sp>
        <p:nvSpPr>
          <p:cNvPr id="11" name="Shape 7"/>
          <p:cNvSpPr/>
          <p:nvPr/>
        </p:nvSpPr>
        <p:spPr>
          <a:xfrm>
            <a:off x="5333848" y="2318004"/>
            <a:ext cx="1521257" cy="164592"/>
          </a:xfrm>
          <a:prstGeom prst="rightArrow">
            <a:avLst/>
          </a:prstGeom>
          <a:solidFill>
            <a:srgbClr val="F5A623"/>
          </a:solidFill>
          <a:ln/>
        </p:spPr>
      </p:sp>
      <p:sp>
        <p:nvSpPr>
          <p:cNvPr id="12" name="Shape 8"/>
          <p:cNvSpPr/>
          <p:nvPr/>
        </p:nvSpPr>
        <p:spPr>
          <a:xfrm>
            <a:off x="7181088" y="1920240"/>
            <a:ext cx="960120" cy="960120"/>
          </a:xfrm>
          <a:prstGeom prst="ellipse">
            <a:avLst/>
          </a:prstGeom>
          <a:solidFill>
            <a:srgbClr val="1B6FA8"/>
          </a:solidFill>
          <a:ln/>
          <a:effectLst>
            <a:outerShdw blurRad="76200" dist="25400" dir="5400000" algn="bl" rotWithShape="0">
              <a:srgbClr val="808080">
                <a:alpha val="25000"/>
              </a:srgbClr>
            </a:outerShdw>
          </a:effectLst>
        </p:spPr>
      </p:sp>
      <p:pic>
        <p:nvPicPr>
          <p:cNvPr id="13" name="Image 2" descr="/home/claude/dm_ppt/assets/icons/p_content.png"/>
          <p:cNvPicPr>
            <a:picLocks noChangeAspect="1"/>
          </p:cNvPicPr>
          <p:nvPr/>
        </p:nvPicPr>
        <p:blipFill>
          <a:blip r:embed="rId5"/>
          <a:stretch>
            <a:fillRect/>
          </a:stretch>
        </p:blipFill>
        <p:spPr>
          <a:xfrm>
            <a:off x="7421118" y="2160270"/>
            <a:ext cx="480060" cy="480060"/>
          </a:xfrm>
          <a:prstGeom prst="rect">
            <a:avLst/>
          </a:prstGeom>
        </p:spPr>
      </p:pic>
      <p:sp>
        <p:nvSpPr>
          <p:cNvPr id="14" name="Text 9"/>
          <p:cNvSpPr/>
          <p:nvPr/>
        </p:nvSpPr>
        <p:spPr>
          <a:xfrm>
            <a:off x="6815328" y="2953512"/>
            <a:ext cx="1691640" cy="457200"/>
          </a:xfrm>
          <a:prstGeom prst="rect">
            <a:avLst/>
          </a:prstGeom>
          <a:noFill/>
          <a:ln/>
        </p:spPr>
        <p:txBody>
          <a:bodyPr wrap="square" rtlCol="0" anchor="ctr"/>
          <a:lstStyle/>
          <a:p>
            <a:pPr marL="0" indent="0" algn="ctr">
              <a:buNone/>
            </a:pPr>
            <a:r>
              <a:rPr lang="en-US" sz="1200" b="1" dirty="0">
                <a:solidFill>
                  <a:srgbClr val="1B2430"/>
                </a:solidFill>
                <a:latin typeface="Calibri" pitchFamily="34" charset="0"/>
                <a:ea typeface="Calibri" pitchFamily="34" charset="-122"/>
                <a:cs typeface="Calibri" pitchFamily="34" charset="-120"/>
              </a:rPr>
              <a:t>3. Content Creation</a:t>
            </a:r>
            <a:endParaRPr lang="en-US" sz="1200" dirty="0"/>
          </a:p>
        </p:txBody>
      </p:sp>
      <p:sp>
        <p:nvSpPr>
          <p:cNvPr id="15" name="Shape 10"/>
          <p:cNvSpPr/>
          <p:nvPr/>
        </p:nvSpPr>
        <p:spPr>
          <a:xfrm>
            <a:off x="8467192" y="2318004"/>
            <a:ext cx="1521257" cy="164592"/>
          </a:xfrm>
          <a:prstGeom prst="rightArrow">
            <a:avLst/>
          </a:prstGeom>
          <a:solidFill>
            <a:srgbClr val="F5A623"/>
          </a:solidFill>
          <a:ln/>
        </p:spPr>
      </p:sp>
      <p:sp>
        <p:nvSpPr>
          <p:cNvPr id="16" name="Shape 11"/>
          <p:cNvSpPr/>
          <p:nvPr/>
        </p:nvSpPr>
        <p:spPr>
          <a:xfrm>
            <a:off x="10314432" y="1920240"/>
            <a:ext cx="960120" cy="960120"/>
          </a:xfrm>
          <a:prstGeom prst="ellipse">
            <a:avLst/>
          </a:prstGeom>
          <a:solidFill>
            <a:srgbClr val="12395B"/>
          </a:solidFill>
          <a:ln/>
          <a:effectLst>
            <a:outerShdw blurRad="76200" dist="25400" dir="5400000" algn="bl" rotWithShape="0">
              <a:srgbClr val="808080">
                <a:alpha val="25000"/>
              </a:srgbClr>
            </a:outerShdw>
          </a:effectLst>
        </p:spPr>
      </p:sp>
      <p:pic>
        <p:nvPicPr>
          <p:cNvPr id="17" name="Image 3" descr="/home/claude/dm_ppt/assets/icons/p_promotion.png"/>
          <p:cNvPicPr>
            <a:picLocks noChangeAspect="1"/>
          </p:cNvPicPr>
          <p:nvPr/>
        </p:nvPicPr>
        <p:blipFill>
          <a:blip r:embed="rId6"/>
          <a:stretch>
            <a:fillRect/>
          </a:stretch>
        </p:blipFill>
        <p:spPr>
          <a:xfrm>
            <a:off x="10554462" y="2160270"/>
            <a:ext cx="480060" cy="480060"/>
          </a:xfrm>
          <a:prstGeom prst="rect">
            <a:avLst/>
          </a:prstGeom>
        </p:spPr>
      </p:pic>
      <p:sp>
        <p:nvSpPr>
          <p:cNvPr id="18" name="Text 12"/>
          <p:cNvSpPr/>
          <p:nvPr/>
        </p:nvSpPr>
        <p:spPr>
          <a:xfrm>
            <a:off x="9948672" y="2953512"/>
            <a:ext cx="1691640" cy="457200"/>
          </a:xfrm>
          <a:prstGeom prst="rect">
            <a:avLst/>
          </a:prstGeom>
          <a:noFill/>
          <a:ln/>
        </p:spPr>
        <p:txBody>
          <a:bodyPr wrap="square" rtlCol="0" anchor="ctr"/>
          <a:lstStyle/>
          <a:p>
            <a:pPr marL="0" indent="0" algn="ctr">
              <a:buNone/>
            </a:pPr>
            <a:r>
              <a:rPr lang="en-US" sz="1200" b="1" dirty="0">
                <a:solidFill>
                  <a:srgbClr val="1B2430"/>
                </a:solidFill>
                <a:latin typeface="Calibri" pitchFamily="34" charset="0"/>
                <a:ea typeface="Calibri" pitchFamily="34" charset="-122"/>
                <a:cs typeface="Calibri" pitchFamily="34" charset="-120"/>
              </a:rPr>
              <a:t>4. Promotion</a:t>
            </a:r>
            <a:endParaRPr lang="en-US" sz="1200" dirty="0"/>
          </a:p>
        </p:txBody>
      </p:sp>
      <p:sp>
        <p:nvSpPr>
          <p:cNvPr id="19" name="Shape 13"/>
          <p:cNvSpPr/>
          <p:nvPr/>
        </p:nvSpPr>
        <p:spPr>
          <a:xfrm>
            <a:off x="10712196" y="3383280"/>
            <a:ext cx="164592" cy="502920"/>
          </a:xfrm>
          <a:prstGeom prst="downArrow">
            <a:avLst/>
          </a:prstGeom>
          <a:solidFill>
            <a:srgbClr val="F5A623"/>
          </a:solidFill>
          <a:ln/>
        </p:spPr>
      </p:sp>
      <p:sp>
        <p:nvSpPr>
          <p:cNvPr id="20" name="Shape 14"/>
          <p:cNvSpPr/>
          <p:nvPr/>
        </p:nvSpPr>
        <p:spPr>
          <a:xfrm>
            <a:off x="10314432" y="4114800"/>
            <a:ext cx="960120" cy="960120"/>
          </a:xfrm>
          <a:prstGeom prst="ellipse">
            <a:avLst/>
          </a:prstGeom>
          <a:solidFill>
            <a:srgbClr val="1B6FA8"/>
          </a:solidFill>
          <a:ln/>
          <a:effectLst>
            <a:outerShdw blurRad="76200" dist="25400" dir="5400000" algn="bl" rotWithShape="0">
              <a:srgbClr val="808080">
                <a:alpha val="25000"/>
              </a:srgbClr>
            </a:outerShdw>
          </a:effectLst>
        </p:spPr>
      </p:sp>
      <p:pic>
        <p:nvPicPr>
          <p:cNvPr id="21" name="Image 4" descr="/home/claude/dm_ppt/assets/icons/p_engagement.png"/>
          <p:cNvPicPr>
            <a:picLocks noChangeAspect="1"/>
          </p:cNvPicPr>
          <p:nvPr/>
        </p:nvPicPr>
        <p:blipFill>
          <a:blip r:embed="rId7"/>
          <a:stretch>
            <a:fillRect/>
          </a:stretch>
        </p:blipFill>
        <p:spPr>
          <a:xfrm>
            <a:off x="10554462" y="4354830"/>
            <a:ext cx="480060" cy="480060"/>
          </a:xfrm>
          <a:prstGeom prst="rect">
            <a:avLst/>
          </a:prstGeom>
        </p:spPr>
      </p:pic>
      <p:sp>
        <p:nvSpPr>
          <p:cNvPr id="22" name="Text 15"/>
          <p:cNvSpPr/>
          <p:nvPr/>
        </p:nvSpPr>
        <p:spPr>
          <a:xfrm>
            <a:off x="9948672" y="5148072"/>
            <a:ext cx="1691640" cy="457200"/>
          </a:xfrm>
          <a:prstGeom prst="rect">
            <a:avLst/>
          </a:prstGeom>
          <a:noFill/>
          <a:ln/>
        </p:spPr>
        <p:txBody>
          <a:bodyPr wrap="square" rtlCol="0" anchor="ctr"/>
          <a:lstStyle/>
          <a:p>
            <a:pPr marL="0" indent="0" algn="ctr">
              <a:buNone/>
            </a:pPr>
            <a:r>
              <a:rPr lang="en-US" sz="1200" b="1" dirty="0">
                <a:solidFill>
                  <a:srgbClr val="1B2430"/>
                </a:solidFill>
                <a:latin typeface="Calibri" pitchFamily="34" charset="0"/>
                <a:ea typeface="Calibri" pitchFamily="34" charset="-122"/>
                <a:cs typeface="Calibri" pitchFamily="34" charset="-120"/>
              </a:rPr>
              <a:t>5. Customer Engagement</a:t>
            </a:r>
            <a:endParaRPr lang="en-US" sz="1200" dirty="0"/>
          </a:p>
        </p:txBody>
      </p:sp>
      <p:sp>
        <p:nvSpPr>
          <p:cNvPr id="23" name="Shape 16"/>
          <p:cNvSpPr/>
          <p:nvPr/>
        </p:nvSpPr>
        <p:spPr>
          <a:xfrm>
            <a:off x="7135520" y="4512564"/>
            <a:ext cx="2617927" cy="164592"/>
          </a:xfrm>
          <a:prstGeom prst="leftArrow">
            <a:avLst/>
          </a:prstGeom>
          <a:solidFill>
            <a:srgbClr val="F5A623"/>
          </a:solidFill>
          <a:ln/>
        </p:spPr>
      </p:sp>
      <p:sp>
        <p:nvSpPr>
          <p:cNvPr id="24" name="Shape 17"/>
          <p:cNvSpPr/>
          <p:nvPr/>
        </p:nvSpPr>
        <p:spPr>
          <a:xfrm>
            <a:off x="5614416" y="4114800"/>
            <a:ext cx="960120" cy="960120"/>
          </a:xfrm>
          <a:prstGeom prst="ellipse">
            <a:avLst/>
          </a:prstGeom>
          <a:solidFill>
            <a:srgbClr val="12395B"/>
          </a:solidFill>
          <a:ln/>
          <a:effectLst>
            <a:outerShdw blurRad="76200" dist="25400" dir="5400000" algn="bl" rotWithShape="0">
              <a:srgbClr val="808080">
                <a:alpha val="25000"/>
              </a:srgbClr>
            </a:outerShdw>
          </a:effectLst>
        </p:spPr>
      </p:sp>
      <p:pic>
        <p:nvPicPr>
          <p:cNvPr id="25" name="Image 5" descr="/home/claude/dm_ppt/assets/icons/p_analysis.png"/>
          <p:cNvPicPr>
            <a:picLocks noChangeAspect="1"/>
          </p:cNvPicPr>
          <p:nvPr/>
        </p:nvPicPr>
        <p:blipFill>
          <a:blip r:embed="rId8"/>
          <a:stretch>
            <a:fillRect/>
          </a:stretch>
        </p:blipFill>
        <p:spPr>
          <a:xfrm>
            <a:off x="5854446" y="4354830"/>
            <a:ext cx="480060" cy="480060"/>
          </a:xfrm>
          <a:prstGeom prst="rect">
            <a:avLst/>
          </a:prstGeom>
        </p:spPr>
      </p:pic>
      <p:sp>
        <p:nvSpPr>
          <p:cNvPr id="26" name="Text 18"/>
          <p:cNvSpPr/>
          <p:nvPr/>
        </p:nvSpPr>
        <p:spPr>
          <a:xfrm>
            <a:off x="5248656" y="5148072"/>
            <a:ext cx="1691640" cy="457200"/>
          </a:xfrm>
          <a:prstGeom prst="rect">
            <a:avLst/>
          </a:prstGeom>
          <a:noFill/>
          <a:ln/>
        </p:spPr>
        <p:txBody>
          <a:bodyPr wrap="square" rtlCol="0" anchor="ctr"/>
          <a:lstStyle/>
          <a:p>
            <a:pPr marL="0" indent="0" algn="ctr">
              <a:buNone/>
            </a:pPr>
            <a:r>
              <a:rPr lang="en-US" sz="1200" b="1" dirty="0">
                <a:solidFill>
                  <a:srgbClr val="1B2430"/>
                </a:solidFill>
                <a:latin typeface="Calibri" pitchFamily="34" charset="0"/>
                <a:ea typeface="Calibri" pitchFamily="34" charset="-122"/>
                <a:cs typeface="Calibri" pitchFamily="34" charset="-120"/>
              </a:rPr>
              <a:t>6. Analysis</a:t>
            </a:r>
            <a:endParaRPr lang="en-US" sz="1200" dirty="0"/>
          </a:p>
        </p:txBody>
      </p:sp>
      <p:sp>
        <p:nvSpPr>
          <p:cNvPr id="27" name="Shape 19"/>
          <p:cNvSpPr/>
          <p:nvPr/>
        </p:nvSpPr>
        <p:spPr>
          <a:xfrm>
            <a:off x="2435504" y="4512564"/>
            <a:ext cx="2617927" cy="164592"/>
          </a:xfrm>
          <a:prstGeom prst="leftArrow">
            <a:avLst/>
          </a:prstGeom>
          <a:solidFill>
            <a:srgbClr val="F5A623"/>
          </a:solidFill>
          <a:ln/>
        </p:spPr>
      </p:sp>
      <p:sp>
        <p:nvSpPr>
          <p:cNvPr id="28" name="Shape 20"/>
          <p:cNvSpPr/>
          <p:nvPr/>
        </p:nvSpPr>
        <p:spPr>
          <a:xfrm>
            <a:off x="914400" y="4114800"/>
            <a:ext cx="960120" cy="960120"/>
          </a:xfrm>
          <a:prstGeom prst="ellipse">
            <a:avLst/>
          </a:prstGeom>
          <a:solidFill>
            <a:srgbClr val="1B6FA8"/>
          </a:solidFill>
          <a:ln/>
          <a:effectLst>
            <a:outerShdw blurRad="76200" dist="25400" dir="5400000" algn="bl" rotWithShape="0">
              <a:srgbClr val="808080">
                <a:alpha val="25000"/>
              </a:srgbClr>
            </a:outerShdw>
          </a:effectLst>
        </p:spPr>
      </p:sp>
      <p:pic>
        <p:nvPicPr>
          <p:cNvPr id="29" name="Image 6" descr="/home/claude/dm_ppt/assets/icons/p_improvement.png"/>
          <p:cNvPicPr>
            <a:picLocks noChangeAspect="1"/>
          </p:cNvPicPr>
          <p:nvPr/>
        </p:nvPicPr>
        <p:blipFill>
          <a:blip r:embed="rId9"/>
          <a:stretch>
            <a:fillRect/>
          </a:stretch>
        </p:blipFill>
        <p:spPr>
          <a:xfrm>
            <a:off x="1154430" y="4354830"/>
            <a:ext cx="480060" cy="480060"/>
          </a:xfrm>
          <a:prstGeom prst="rect">
            <a:avLst/>
          </a:prstGeom>
        </p:spPr>
      </p:pic>
      <p:sp>
        <p:nvSpPr>
          <p:cNvPr id="30" name="Text 21"/>
          <p:cNvSpPr/>
          <p:nvPr/>
        </p:nvSpPr>
        <p:spPr>
          <a:xfrm>
            <a:off x="548640" y="5148072"/>
            <a:ext cx="1691640" cy="457200"/>
          </a:xfrm>
          <a:prstGeom prst="rect">
            <a:avLst/>
          </a:prstGeom>
          <a:noFill/>
          <a:ln/>
        </p:spPr>
        <p:txBody>
          <a:bodyPr wrap="square" rtlCol="0" anchor="ctr"/>
          <a:lstStyle/>
          <a:p>
            <a:pPr marL="0" indent="0" algn="ctr">
              <a:buNone/>
            </a:pPr>
            <a:r>
              <a:rPr lang="en-US" sz="1200" b="1" dirty="0">
                <a:solidFill>
                  <a:srgbClr val="1B2430"/>
                </a:solidFill>
                <a:latin typeface="Calibri" pitchFamily="34" charset="0"/>
                <a:ea typeface="Calibri" pitchFamily="34" charset="-122"/>
                <a:cs typeface="Calibri" pitchFamily="34" charset="-120"/>
              </a:rPr>
              <a:t>7. Improvement</a:t>
            </a:r>
            <a:endParaRPr lang="en-US" sz="1200" dirty="0"/>
          </a:p>
        </p:txBody>
      </p:sp>
      <p:sp>
        <p:nvSpPr>
          <p:cNvPr id="31" name="Text 22"/>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J.B.S.P. Sanstha's College, Panvel</a:t>
            </a:r>
            <a:endParaRPr lang="en-US" sz="900" dirty="0"/>
          </a:p>
        </p:txBody>
      </p:sp>
      <p:sp>
        <p:nvSpPr>
          <p:cNvPr id="32" name="Text 23"/>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7</a:t>
            </a:r>
            <a:endParaRPr lang="en-US" sz="900" dirty="0"/>
          </a:p>
        </p:txBody>
      </p:sp>
    </p:spTree>
  </p:cSld>
  <p:clrMapOvr>
    <a:masterClrMapping/>
  </p:clrMapOvr>
  <p:transition>
    <p:cover dir="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685800"/>
          </a:xfrm>
          <a:prstGeom prst="rect">
            <a:avLst/>
          </a:prstGeom>
          <a:noFill/>
          <a:ln/>
        </p:spPr>
        <p:txBody>
          <a:bodyPr wrap="square" rtlCol="0" anchor="ctr"/>
          <a:lstStyle/>
          <a:p>
            <a:pPr marL="0" indent="0" algn="l">
              <a:buNone/>
            </a:pPr>
            <a:r>
              <a:rPr lang="en-US" sz="3200" b="1" dirty="0">
                <a:solidFill>
                  <a:srgbClr val="12395B"/>
                </a:solidFill>
                <a:latin typeface="Cambria" pitchFamily="34" charset="0"/>
                <a:ea typeface="Cambria" pitchFamily="34" charset="-122"/>
                <a:cs typeface="Cambria" pitchFamily="34" charset="-120"/>
              </a:rPr>
              <a:t>Real-Life Example</a:t>
            </a:r>
            <a:endParaRPr lang="en-US" sz="3200" dirty="0"/>
          </a:p>
        </p:txBody>
      </p:sp>
      <p:sp>
        <p:nvSpPr>
          <p:cNvPr id="3" name="Shape 1"/>
          <p:cNvSpPr/>
          <p:nvPr/>
        </p:nvSpPr>
        <p:spPr>
          <a:xfrm>
            <a:off x="0" y="1170432"/>
            <a:ext cx="12188952" cy="18288"/>
          </a:xfrm>
          <a:prstGeom prst="rect">
            <a:avLst/>
          </a:prstGeom>
          <a:solidFill>
            <a:srgbClr val="E3E9EF"/>
          </a:solidFill>
          <a:ln/>
        </p:spPr>
      </p:sp>
      <p:sp>
        <p:nvSpPr>
          <p:cNvPr id="4" name="Shape 2"/>
          <p:cNvSpPr/>
          <p:nvPr/>
        </p:nvSpPr>
        <p:spPr>
          <a:xfrm>
            <a:off x="548640" y="1463040"/>
            <a:ext cx="11091672" cy="777240"/>
          </a:xfrm>
          <a:prstGeom prst="roundRect">
            <a:avLst>
              <a:gd name="adj" fmla="val 14118"/>
            </a:avLst>
          </a:prstGeom>
          <a:solidFill>
            <a:srgbClr val="EAF3FB"/>
          </a:solidFill>
          <a:ln/>
        </p:spPr>
      </p:sp>
      <p:sp>
        <p:nvSpPr>
          <p:cNvPr id="5" name="Text 3"/>
          <p:cNvSpPr/>
          <p:nvPr/>
        </p:nvSpPr>
        <p:spPr>
          <a:xfrm>
            <a:off x="822960" y="1463040"/>
            <a:ext cx="10543032" cy="777240"/>
          </a:xfrm>
          <a:prstGeom prst="rect">
            <a:avLst/>
          </a:prstGeom>
          <a:noFill/>
          <a:ln/>
        </p:spPr>
        <p:txBody>
          <a:bodyPr wrap="square" rtlCol="0" anchor="ctr"/>
          <a:lstStyle/>
          <a:p>
            <a:pPr marL="0" indent="0" algn="l">
              <a:buNone/>
            </a:pPr>
            <a:r>
              <a:rPr lang="en-US" sz="1600" b="1" dirty="0">
                <a:solidFill>
                  <a:srgbClr val="12395B"/>
                </a:solidFill>
                <a:latin typeface="Calibri" pitchFamily="34" charset="0"/>
                <a:ea typeface="Calibri" pitchFamily="34" charset="-122"/>
                <a:cs typeface="Calibri" pitchFamily="34" charset="-120"/>
              </a:rPr>
              <a:t>A small clothing shop grows online sales using Instagram and Facebook ads</a:t>
            </a:r>
            <a:endParaRPr lang="en-US" sz="1600" dirty="0"/>
          </a:p>
        </p:txBody>
      </p:sp>
      <p:sp>
        <p:nvSpPr>
          <p:cNvPr id="6" name="Shape 4"/>
          <p:cNvSpPr/>
          <p:nvPr/>
        </p:nvSpPr>
        <p:spPr>
          <a:xfrm>
            <a:off x="548640" y="2514600"/>
            <a:ext cx="2580894" cy="2651760"/>
          </a:xfrm>
          <a:prstGeom prst="roundRect">
            <a:avLst>
              <a:gd name="adj" fmla="val 4252"/>
            </a:avLst>
          </a:prstGeom>
          <a:solidFill>
            <a:srgbClr val="EAF3FB"/>
          </a:solidFill>
          <a:ln/>
          <a:effectLst>
            <a:outerShdw blurRad="101600" dist="25400" dir="5400000" algn="bl" rotWithShape="0">
              <a:srgbClr val="8090A0">
                <a:alpha val="18000"/>
              </a:srgbClr>
            </a:outerShdw>
          </a:effectLst>
        </p:spPr>
      </p:sp>
      <p:sp>
        <p:nvSpPr>
          <p:cNvPr id="7" name="Shape 5"/>
          <p:cNvSpPr/>
          <p:nvPr/>
        </p:nvSpPr>
        <p:spPr>
          <a:xfrm>
            <a:off x="749808" y="2715768"/>
            <a:ext cx="566928" cy="566928"/>
          </a:xfrm>
          <a:prstGeom prst="ellipse">
            <a:avLst/>
          </a:prstGeom>
          <a:solidFill>
            <a:srgbClr val="1B6FA8"/>
          </a:solidFill>
          <a:ln/>
          <a:effectLst>
            <a:outerShdw blurRad="76200" dist="25400" dir="5400000" algn="bl" rotWithShape="0">
              <a:srgbClr val="808080">
                <a:alpha val="25000"/>
              </a:srgbClr>
            </a:outerShdw>
          </a:effectLst>
        </p:spPr>
      </p:sp>
      <p:pic>
        <p:nvPicPr>
          <p:cNvPr id="8" name="Image 0" descr="/home/claude/dm_ppt/assets/icons/shop.png"/>
          <p:cNvPicPr>
            <a:picLocks noChangeAspect="1"/>
          </p:cNvPicPr>
          <p:nvPr/>
        </p:nvPicPr>
        <p:blipFill>
          <a:blip r:embed="rId3"/>
          <a:stretch>
            <a:fillRect/>
          </a:stretch>
        </p:blipFill>
        <p:spPr>
          <a:xfrm>
            <a:off x="877367" y="2843327"/>
            <a:ext cx="311810" cy="311810"/>
          </a:xfrm>
          <a:prstGeom prst="rect">
            <a:avLst/>
          </a:prstGeom>
        </p:spPr>
      </p:pic>
      <p:sp>
        <p:nvSpPr>
          <p:cNvPr id="9" name="Text 6"/>
          <p:cNvSpPr/>
          <p:nvPr/>
        </p:nvSpPr>
        <p:spPr>
          <a:xfrm>
            <a:off x="749808" y="3337560"/>
            <a:ext cx="2178558" cy="310896"/>
          </a:xfrm>
          <a:prstGeom prst="rect">
            <a:avLst/>
          </a:prstGeom>
          <a:noFill/>
          <a:ln/>
        </p:spPr>
        <p:txBody>
          <a:bodyPr wrap="square" lIns="0" tIns="0" rIns="0" bIns="0" rtlCol="0" anchor="ctr"/>
          <a:lstStyle/>
          <a:p>
            <a:pPr marL="0" indent="0" algn="l">
              <a:buNone/>
            </a:pPr>
            <a:r>
              <a:rPr lang="en-US" sz="1400" b="1" dirty="0">
                <a:solidFill>
                  <a:srgbClr val="1B2430"/>
                </a:solidFill>
                <a:latin typeface="Calibri" pitchFamily="34" charset="0"/>
                <a:ea typeface="Calibri" pitchFamily="34" charset="-122"/>
                <a:cs typeface="Calibri" pitchFamily="34" charset="-120"/>
              </a:rPr>
              <a:t>Opens a business page</a:t>
            </a:r>
            <a:endParaRPr lang="en-US" sz="1400" dirty="0"/>
          </a:p>
        </p:txBody>
      </p:sp>
      <p:sp>
        <p:nvSpPr>
          <p:cNvPr id="10" name="Text 7"/>
          <p:cNvSpPr/>
          <p:nvPr/>
        </p:nvSpPr>
        <p:spPr>
          <a:xfrm>
            <a:off x="749808" y="3648456"/>
            <a:ext cx="2178558" cy="1408176"/>
          </a:xfrm>
          <a:prstGeom prst="rect">
            <a:avLst/>
          </a:prstGeom>
          <a:noFill/>
          <a:ln/>
        </p:spPr>
        <p:txBody>
          <a:bodyPr wrap="square" lIns="0" tIns="0" rIns="0" bIns="0" rtlCol="0" anchor="t"/>
          <a:lstStyle/>
          <a:p>
            <a:pPr marL="0" indent="0" algn="l">
              <a:buNone/>
            </a:pPr>
            <a:r>
              <a:rPr lang="en-US" sz="1100" dirty="0">
                <a:solidFill>
                  <a:srgbClr val="5B6B79"/>
                </a:solidFill>
                <a:latin typeface="Calibri" pitchFamily="34" charset="0"/>
                <a:ea typeface="Calibri" pitchFamily="34" charset="-122"/>
                <a:cs typeface="Calibri" pitchFamily="34" charset="-120"/>
              </a:rPr>
              <a:t>Creates shop profile on Instagram</a:t>
            </a:r>
            <a:endParaRPr lang="en-US" sz="1100" dirty="0"/>
          </a:p>
        </p:txBody>
      </p:sp>
      <p:sp>
        <p:nvSpPr>
          <p:cNvPr id="11" name="Shape 8"/>
          <p:cNvSpPr/>
          <p:nvPr/>
        </p:nvSpPr>
        <p:spPr>
          <a:xfrm>
            <a:off x="3147822" y="2743200"/>
            <a:ext cx="219456" cy="146304"/>
          </a:xfrm>
          <a:prstGeom prst="rightArrow">
            <a:avLst/>
          </a:prstGeom>
          <a:solidFill>
            <a:srgbClr val="C7D6E3"/>
          </a:solidFill>
          <a:ln/>
        </p:spPr>
      </p:sp>
      <p:sp>
        <p:nvSpPr>
          <p:cNvPr id="12" name="Shape 9"/>
          <p:cNvSpPr/>
          <p:nvPr/>
        </p:nvSpPr>
        <p:spPr>
          <a:xfrm>
            <a:off x="3385566" y="2514600"/>
            <a:ext cx="2580894" cy="2651760"/>
          </a:xfrm>
          <a:prstGeom prst="roundRect">
            <a:avLst>
              <a:gd name="adj" fmla="val 4252"/>
            </a:avLst>
          </a:prstGeom>
          <a:solidFill>
            <a:srgbClr val="EAF3FB"/>
          </a:solidFill>
          <a:ln/>
          <a:effectLst>
            <a:outerShdw blurRad="101600" dist="25400" dir="5400000" algn="bl" rotWithShape="0">
              <a:srgbClr val="8090A0">
                <a:alpha val="18000"/>
              </a:srgbClr>
            </a:outerShdw>
          </a:effectLst>
        </p:spPr>
      </p:sp>
      <p:sp>
        <p:nvSpPr>
          <p:cNvPr id="13" name="Shape 10"/>
          <p:cNvSpPr/>
          <p:nvPr/>
        </p:nvSpPr>
        <p:spPr>
          <a:xfrm>
            <a:off x="3586734" y="2715768"/>
            <a:ext cx="566928" cy="566928"/>
          </a:xfrm>
          <a:prstGeom prst="ellipse">
            <a:avLst/>
          </a:prstGeom>
          <a:solidFill>
            <a:srgbClr val="F5A623"/>
          </a:solidFill>
          <a:ln/>
          <a:effectLst>
            <a:outerShdw blurRad="76200" dist="25400" dir="5400000" algn="bl" rotWithShape="0">
              <a:srgbClr val="808080">
                <a:alpha val="25000"/>
              </a:srgbClr>
            </a:outerShdw>
          </a:effectLst>
        </p:spPr>
      </p:sp>
      <p:pic>
        <p:nvPicPr>
          <p:cNvPr id="14" name="Image 1" descr="/home/claude/dm_ppt/assets/icons/content.png"/>
          <p:cNvPicPr>
            <a:picLocks noChangeAspect="1"/>
          </p:cNvPicPr>
          <p:nvPr/>
        </p:nvPicPr>
        <p:blipFill>
          <a:blip r:embed="rId4"/>
          <a:stretch>
            <a:fillRect/>
          </a:stretch>
        </p:blipFill>
        <p:spPr>
          <a:xfrm>
            <a:off x="3714293" y="2843327"/>
            <a:ext cx="311810" cy="311810"/>
          </a:xfrm>
          <a:prstGeom prst="rect">
            <a:avLst/>
          </a:prstGeom>
        </p:spPr>
      </p:pic>
      <p:sp>
        <p:nvSpPr>
          <p:cNvPr id="15" name="Text 11"/>
          <p:cNvSpPr/>
          <p:nvPr/>
        </p:nvSpPr>
        <p:spPr>
          <a:xfrm>
            <a:off x="3586734" y="3337560"/>
            <a:ext cx="2178558" cy="310896"/>
          </a:xfrm>
          <a:prstGeom prst="rect">
            <a:avLst/>
          </a:prstGeom>
          <a:noFill/>
          <a:ln/>
        </p:spPr>
        <p:txBody>
          <a:bodyPr wrap="square" lIns="0" tIns="0" rIns="0" bIns="0" rtlCol="0" anchor="ctr"/>
          <a:lstStyle/>
          <a:p>
            <a:pPr marL="0" indent="0" algn="l">
              <a:buNone/>
            </a:pPr>
            <a:r>
              <a:rPr lang="en-US" sz="1400" b="1" dirty="0">
                <a:solidFill>
                  <a:srgbClr val="1B2430"/>
                </a:solidFill>
                <a:latin typeface="Calibri" pitchFamily="34" charset="0"/>
                <a:ea typeface="Calibri" pitchFamily="34" charset="-122"/>
                <a:cs typeface="Calibri" pitchFamily="34" charset="-120"/>
              </a:rPr>
              <a:t>Posts product photos</a:t>
            </a:r>
            <a:endParaRPr lang="en-US" sz="1400" dirty="0"/>
          </a:p>
        </p:txBody>
      </p:sp>
      <p:sp>
        <p:nvSpPr>
          <p:cNvPr id="16" name="Text 12"/>
          <p:cNvSpPr/>
          <p:nvPr/>
        </p:nvSpPr>
        <p:spPr>
          <a:xfrm>
            <a:off x="3586734" y="3648456"/>
            <a:ext cx="2178558" cy="1408176"/>
          </a:xfrm>
          <a:prstGeom prst="rect">
            <a:avLst/>
          </a:prstGeom>
          <a:noFill/>
          <a:ln/>
        </p:spPr>
        <p:txBody>
          <a:bodyPr wrap="square" lIns="0" tIns="0" rIns="0" bIns="0" rtlCol="0" anchor="t"/>
          <a:lstStyle/>
          <a:p>
            <a:pPr marL="0" indent="0" algn="l">
              <a:buNone/>
            </a:pPr>
            <a:r>
              <a:rPr lang="en-US" sz="1100" dirty="0">
                <a:solidFill>
                  <a:srgbClr val="5B6B79"/>
                </a:solidFill>
                <a:latin typeface="Calibri" pitchFamily="34" charset="0"/>
                <a:ea typeface="Calibri" pitchFamily="34" charset="-122"/>
                <a:cs typeface="Calibri" pitchFamily="34" charset="-120"/>
              </a:rPr>
              <a:t>Shares reels and daily updates</a:t>
            </a:r>
            <a:endParaRPr lang="en-US" sz="1100" dirty="0"/>
          </a:p>
        </p:txBody>
      </p:sp>
      <p:sp>
        <p:nvSpPr>
          <p:cNvPr id="17" name="Shape 13"/>
          <p:cNvSpPr/>
          <p:nvPr/>
        </p:nvSpPr>
        <p:spPr>
          <a:xfrm>
            <a:off x="5984748" y="2743200"/>
            <a:ext cx="219456" cy="146304"/>
          </a:xfrm>
          <a:prstGeom prst="rightArrow">
            <a:avLst/>
          </a:prstGeom>
          <a:solidFill>
            <a:srgbClr val="C7D6E3"/>
          </a:solidFill>
          <a:ln/>
        </p:spPr>
      </p:sp>
      <p:sp>
        <p:nvSpPr>
          <p:cNvPr id="18" name="Shape 14"/>
          <p:cNvSpPr/>
          <p:nvPr/>
        </p:nvSpPr>
        <p:spPr>
          <a:xfrm>
            <a:off x="6222492" y="2514600"/>
            <a:ext cx="2580894" cy="2651760"/>
          </a:xfrm>
          <a:prstGeom prst="roundRect">
            <a:avLst>
              <a:gd name="adj" fmla="val 4252"/>
            </a:avLst>
          </a:prstGeom>
          <a:solidFill>
            <a:srgbClr val="EAF3FB"/>
          </a:solidFill>
          <a:ln/>
          <a:effectLst>
            <a:outerShdw blurRad="101600" dist="25400" dir="5400000" algn="bl" rotWithShape="0">
              <a:srgbClr val="8090A0">
                <a:alpha val="18000"/>
              </a:srgbClr>
            </a:outerShdw>
          </a:effectLst>
        </p:spPr>
      </p:sp>
      <p:sp>
        <p:nvSpPr>
          <p:cNvPr id="19" name="Shape 15"/>
          <p:cNvSpPr/>
          <p:nvPr/>
        </p:nvSpPr>
        <p:spPr>
          <a:xfrm>
            <a:off x="6423660" y="2715768"/>
            <a:ext cx="566928" cy="566928"/>
          </a:xfrm>
          <a:prstGeom prst="ellipse">
            <a:avLst/>
          </a:prstGeom>
          <a:solidFill>
            <a:srgbClr val="1B6FA8"/>
          </a:solidFill>
          <a:ln/>
          <a:effectLst>
            <a:outerShdw blurRad="76200" dist="25400" dir="5400000" algn="bl" rotWithShape="0">
              <a:srgbClr val="808080">
                <a:alpha val="25000"/>
              </a:srgbClr>
            </a:outerShdw>
          </a:effectLst>
        </p:spPr>
      </p:sp>
      <p:pic>
        <p:nvPicPr>
          <p:cNvPr id="20" name="Image 2" descr="/home/claude/dm_ppt/assets/icons/ppc.png"/>
          <p:cNvPicPr>
            <a:picLocks noChangeAspect="1"/>
          </p:cNvPicPr>
          <p:nvPr/>
        </p:nvPicPr>
        <p:blipFill>
          <a:blip r:embed="rId5"/>
          <a:stretch>
            <a:fillRect/>
          </a:stretch>
        </p:blipFill>
        <p:spPr>
          <a:xfrm>
            <a:off x="6551219" y="2843327"/>
            <a:ext cx="311810" cy="311810"/>
          </a:xfrm>
          <a:prstGeom prst="rect">
            <a:avLst/>
          </a:prstGeom>
        </p:spPr>
      </p:pic>
      <p:sp>
        <p:nvSpPr>
          <p:cNvPr id="21" name="Text 16"/>
          <p:cNvSpPr/>
          <p:nvPr/>
        </p:nvSpPr>
        <p:spPr>
          <a:xfrm>
            <a:off x="6423660" y="3337560"/>
            <a:ext cx="2178558" cy="310896"/>
          </a:xfrm>
          <a:prstGeom prst="rect">
            <a:avLst/>
          </a:prstGeom>
          <a:noFill/>
          <a:ln/>
        </p:spPr>
        <p:txBody>
          <a:bodyPr wrap="square" lIns="0" tIns="0" rIns="0" bIns="0" rtlCol="0" anchor="ctr"/>
          <a:lstStyle/>
          <a:p>
            <a:pPr marL="0" indent="0" algn="l">
              <a:buNone/>
            </a:pPr>
            <a:r>
              <a:rPr lang="en-US" sz="1400" b="1" dirty="0">
                <a:solidFill>
                  <a:srgbClr val="1B2430"/>
                </a:solidFill>
                <a:latin typeface="Calibri" pitchFamily="34" charset="0"/>
                <a:ea typeface="Calibri" pitchFamily="34" charset="-122"/>
                <a:cs typeface="Calibri" pitchFamily="34" charset="-120"/>
              </a:rPr>
              <a:t>Runs paid ads</a:t>
            </a:r>
            <a:endParaRPr lang="en-US" sz="1400" dirty="0"/>
          </a:p>
        </p:txBody>
      </p:sp>
      <p:sp>
        <p:nvSpPr>
          <p:cNvPr id="22" name="Text 17"/>
          <p:cNvSpPr/>
          <p:nvPr/>
        </p:nvSpPr>
        <p:spPr>
          <a:xfrm>
            <a:off x="6423660" y="3648456"/>
            <a:ext cx="2178558" cy="1408176"/>
          </a:xfrm>
          <a:prstGeom prst="rect">
            <a:avLst/>
          </a:prstGeom>
          <a:noFill/>
          <a:ln/>
        </p:spPr>
        <p:txBody>
          <a:bodyPr wrap="square" lIns="0" tIns="0" rIns="0" bIns="0" rtlCol="0" anchor="t"/>
          <a:lstStyle/>
          <a:p>
            <a:pPr marL="0" indent="0" algn="l">
              <a:buNone/>
            </a:pPr>
            <a:r>
              <a:rPr lang="en-US" sz="1100" dirty="0">
                <a:solidFill>
                  <a:srgbClr val="5B6B79"/>
                </a:solidFill>
                <a:latin typeface="Calibri" pitchFamily="34" charset="0"/>
                <a:ea typeface="Calibri" pitchFamily="34" charset="-122"/>
                <a:cs typeface="Calibri" pitchFamily="34" charset="-120"/>
              </a:rPr>
              <a:t>Targets local, interested buyers</a:t>
            </a:r>
            <a:endParaRPr lang="en-US" sz="1100" dirty="0"/>
          </a:p>
        </p:txBody>
      </p:sp>
      <p:sp>
        <p:nvSpPr>
          <p:cNvPr id="23" name="Shape 18"/>
          <p:cNvSpPr/>
          <p:nvPr/>
        </p:nvSpPr>
        <p:spPr>
          <a:xfrm>
            <a:off x="8821674" y="2743200"/>
            <a:ext cx="219456" cy="146304"/>
          </a:xfrm>
          <a:prstGeom prst="rightArrow">
            <a:avLst/>
          </a:prstGeom>
          <a:solidFill>
            <a:srgbClr val="C7D6E3"/>
          </a:solidFill>
          <a:ln/>
        </p:spPr>
      </p:sp>
      <p:sp>
        <p:nvSpPr>
          <p:cNvPr id="24" name="Shape 19"/>
          <p:cNvSpPr/>
          <p:nvPr/>
        </p:nvSpPr>
        <p:spPr>
          <a:xfrm>
            <a:off x="9059418" y="2514600"/>
            <a:ext cx="2580894" cy="2651760"/>
          </a:xfrm>
          <a:prstGeom prst="roundRect">
            <a:avLst>
              <a:gd name="adj" fmla="val 4252"/>
            </a:avLst>
          </a:prstGeom>
          <a:solidFill>
            <a:srgbClr val="EAF3FB"/>
          </a:solidFill>
          <a:ln/>
          <a:effectLst>
            <a:outerShdw blurRad="101600" dist="25400" dir="5400000" algn="bl" rotWithShape="0">
              <a:srgbClr val="8090A0">
                <a:alpha val="18000"/>
              </a:srgbClr>
            </a:outerShdw>
          </a:effectLst>
        </p:spPr>
      </p:sp>
      <p:sp>
        <p:nvSpPr>
          <p:cNvPr id="25" name="Shape 20"/>
          <p:cNvSpPr/>
          <p:nvPr/>
        </p:nvSpPr>
        <p:spPr>
          <a:xfrm>
            <a:off x="9260586" y="2715768"/>
            <a:ext cx="566928" cy="566928"/>
          </a:xfrm>
          <a:prstGeom prst="ellipse">
            <a:avLst/>
          </a:prstGeom>
          <a:solidFill>
            <a:srgbClr val="F5A623"/>
          </a:solidFill>
          <a:ln/>
          <a:effectLst>
            <a:outerShdw blurRad="76200" dist="25400" dir="5400000" algn="bl" rotWithShape="0">
              <a:srgbClr val="808080">
                <a:alpha val="25000"/>
              </a:srgbClr>
            </a:outerShdw>
          </a:effectLst>
        </p:spPr>
      </p:sp>
      <p:pic>
        <p:nvPicPr>
          <p:cNvPr id="26" name="Image 3" descr="/home/claude/dm_ppt/assets/icons/growth.png"/>
          <p:cNvPicPr>
            <a:picLocks noChangeAspect="1"/>
          </p:cNvPicPr>
          <p:nvPr/>
        </p:nvPicPr>
        <p:blipFill>
          <a:blip r:embed="rId6"/>
          <a:stretch>
            <a:fillRect/>
          </a:stretch>
        </p:blipFill>
        <p:spPr>
          <a:xfrm>
            <a:off x="9388145" y="2843327"/>
            <a:ext cx="311810" cy="311810"/>
          </a:xfrm>
          <a:prstGeom prst="rect">
            <a:avLst/>
          </a:prstGeom>
        </p:spPr>
      </p:pic>
      <p:sp>
        <p:nvSpPr>
          <p:cNvPr id="27" name="Text 21"/>
          <p:cNvSpPr/>
          <p:nvPr/>
        </p:nvSpPr>
        <p:spPr>
          <a:xfrm>
            <a:off x="9260586" y="3337560"/>
            <a:ext cx="2178558" cy="310896"/>
          </a:xfrm>
          <a:prstGeom prst="rect">
            <a:avLst/>
          </a:prstGeom>
          <a:noFill/>
          <a:ln/>
        </p:spPr>
        <p:txBody>
          <a:bodyPr wrap="square" lIns="0" tIns="0" rIns="0" bIns="0" rtlCol="0" anchor="ctr"/>
          <a:lstStyle/>
          <a:p>
            <a:pPr marL="0" indent="0" algn="l">
              <a:buNone/>
            </a:pPr>
            <a:r>
              <a:rPr lang="en-US" sz="1400" b="1" dirty="0">
                <a:solidFill>
                  <a:srgbClr val="1B2430"/>
                </a:solidFill>
                <a:latin typeface="Calibri" pitchFamily="34" charset="0"/>
                <a:ea typeface="Calibri" pitchFamily="34" charset="-122"/>
                <a:cs typeface="Calibri" pitchFamily="34" charset="-120"/>
              </a:rPr>
              <a:t>Sales grow steadily</a:t>
            </a:r>
            <a:endParaRPr lang="en-US" sz="1400" dirty="0"/>
          </a:p>
        </p:txBody>
      </p:sp>
      <p:sp>
        <p:nvSpPr>
          <p:cNvPr id="28" name="Text 22"/>
          <p:cNvSpPr/>
          <p:nvPr/>
        </p:nvSpPr>
        <p:spPr>
          <a:xfrm>
            <a:off x="9260586" y="3648456"/>
            <a:ext cx="2178558" cy="1408176"/>
          </a:xfrm>
          <a:prstGeom prst="rect">
            <a:avLst/>
          </a:prstGeom>
          <a:noFill/>
          <a:ln/>
        </p:spPr>
        <p:txBody>
          <a:bodyPr wrap="square" lIns="0" tIns="0" rIns="0" bIns="0" rtlCol="0" anchor="t"/>
          <a:lstStyle/>
          <a:p>
            <a:pPr marL="0" indent="0" algn="l">
              <a:buNone/>
            </a:pPr>
            <a:r>
              <a:rPr lang="en-US" sz="1100" dirty="0">
                <a:solidFill>
                  <a:srgbClr val="5B6B79"/>
                </a:solidFill>
                <a:latin typeface="Calibri" pitchFamily="34" charset="0"/>
                <a:ea typeface="Calibri" pitchFamily="34" charset="-122"/>
                <a:cs typeface="Calibri" pitchFamily="34" charset="-120"/>
              </a:rPr>
              <a:t>Gains regular repeat customers</a:t>
            </a:r>
            <a:endParaRPr lang="en-US" sz="1100" dirty="0"/>
          </a:p>
        </p:txBody>
      </p:sp>
      <p:sp>
        <p:nvSpPr>
          <p:cNvPr id="29" name="Text 23"/>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J.B.S.P. Sanstha's College, Panvel</a:t>
            </a:r>
            <a:endParaRPr lang="en-US" sz="900" dirty="0"/>
          </a:p>
        </p:txBody>
      </p:sp>
      <p:sp>
        <p:nvSpPr>
          <p:cNvPr id="30" name="Text 24"/>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8</a:t>
            </a:r>
            <a:endParaRPr lang="en-US" sz="900" dirty="0"/>
          </a:p>
        </p:txBody>
      </p:sp>
    </p:spTree>
  </p:cSld>
  <p:clrMapOvr>
    <a:masterClrMapping/>
  </p:clrMapOvr>
  <p:transition>
    <p:cover dir="r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395B"/>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68580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Future Scope</a:t>
            </a:r>
            <a:endParaRPr lang="en-US" sz="3200" dirty="0"/>
          </a:p>
        </p:txBody>
      </p:sp>
      <p:sp>
        <p:nvSpPr>
          <p:cNvPr id="3" name="Shape 1"/>
          <p:cNvSpPr/>
          <p:nvPr/>
        </p:nvSpPr>
        <p:spPr>
          <a:xfrm>
            <a:off x="0" y="1170432"/>
            <a:ext cx="12188952" cy="18288"/>
          </a:xfrm>
          <a:prstGeom prst="rect">
            <a:avLst/>
          </a:prstGeom>
          <a:solidFill>
            <a:srgbClr val="2A5C86"/>
          </a:solidFill>
          <a:ln/>
        </p:spPr>
      </p:sp>
      <p:sp>
        <p:nvSpPr>
          <p:cNvPr id="4" name="Shape 2"/>
          <p:cNvSpPr/>
          <p:nvPr/>
        </p:nvSpPr>
        <p:spPr>
          <a:xfrm>
            <a:off x="548640" y="1508760"/>
            <a:ext cx="3514344" cy="2103120"/>
          </a:xfrm>
          <a:prstGeom prst="roundRect">
            <a:avLst>
              <a:gd name="adj" fmla="val 5217"/>
            </a:avLst>
          </a:prstGeom>
          <a:solidFill>
            <a:srgbClr val="16456F"/>
          </a:solidFill>
          <a:ln/>
        </p:spPr>
      </p:sp>
      <p:sp>
        <p:nvSpPr>
          <p:cNvPr id="5" name="Shape 3"/>
          <p:cNvSpPr/>
          <p:nvPr/>
        </p:nvSpPr>
        <p:spPr>
          <a:xfrm>
            <a:off x="749808" y="1709928"/>
            <a:ext cx="566928" cy="566928"/>
          </a:xfrm>
          <a:prstGeom prst="ellipse">
            <a:avLst/>
          </a:prstGeom>
          <a:solidFill>
            <a:srgbClr val="F5A623"/>
          </a:solidFill>
          <a:ln/>
          <a:effectLst>
            <a:outerShdw blurRad="76200" dist="25400" dir="5400000" algn="bl" rotWithShape="0">
              <a:srgbClr val="808080">
                <a:alpha val="25000"/>
              </a:srgbClr>
            </a:outerShdw>
          </a:effectLst>
        </p:spPr>
      </p:sp>
      <p:pic>
        <p:nvPicPr>
          <p:cNvPr id="6" name="Image 0" descr="/home/claude/dm_ppt/assets/icons/ai.png"/>
          <p:cNvPicPr>
            <a:picLocks noChangeAspect="1"/>
          </p:cNvPicPr>
          <p:nvPr/>
        </p:nvPicPr>
        <p:blipFill>
          <a:blip r:embed="rId3"/>
          <a:stretch>
            <a:fillRect/>
          </a:stretch>
        </p:blipFill>
        <p:spPr>
          <a:xfrm>
            <a:off x="877367" y="1837487"/>
            <a:ext cx="311810" cy="311810"/>
          </a:xfrm>
          <a:prstGeom prst="rect">
            <a:avLst/>
          </a:prstGeom>
        </p:spPr>
      </p:pic>
      <p:sp>
        <p:nvSpPr>
          <p:cNvPr id="7" name="Text 4"/>
          <p:cNvSpPr/>
          <p:nvPr/>
        </p:nvSpPr>
        <p:spPr>
          <a:xfrm>
            <a:off x="749808" y="2331720"/>
            <a:ext cx="3112008" cy="310896"/>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AI in Marketing</a:t>
            </a:r>
            <a:endParaRPr lang="en-US" sz="1400" dirty="0"/>
          </a:p>
        </p:txBody>
      </p:sp>
      <p:sp>
        <p:nvSpPr>
          <p:cNvPr id="8" name="Text 5"/>
          <p:cNvSpPr/>
          <p:nvPr/>
        </p:nvSpPr>
        <p:spPr>
          <a:xfrm>
            <a:off x="749808" y="2642616"/>
            <a:ext cx="3112008" cy="859536"/>
          </a:xfrm>
          <a:prstGeom prst="rect">
            <a:avLst/>
          </a:prstGeom>
          <a:noFill/>
          <a:ln/>
        </p:spPr>
        <p:txBody>
          <a:bodyPr wrap="square" lIns="0" tIns="0" rIns="0" bIns="0" rtlCol="0" anchor="t"/>
          <a:lstStyle/>
          <a:p>
            <a:pPr marL="0" indent="0" algn="l">
              <a:buNone/>
            </a:pPr>
            <a:r>
              <a:rPr lang="en-US" sz="1100" dirty="0">
                <a:solidFill>
                  <a:srgbClr val="CFE3F2"/>
                </a:solidFill>
                <a:latin typeface="Calibri" pitchFamily="34" charset="0"/>
                <a:ea typeface="Calibri" pitchFamily="34" charset="-122"/>
                <a:cs typeface="Calibri" pitchFamily="34" charset="-120"/>
              </a:rPr>
              <a:t>Smarter targeting and predictions</a:t>
            </a:r>
            <a:endParaRPr lang="en-US" sz="1100" dirty="0"/>
          </a:p>
        </p:txBody>
      </p:sp>
      <p:sp>
        <p:nvSpPr>
          <p:cNvPr id="9" name="Shape 6"/>
          <p:cNvSpPr/>
          <p:nvPr/>
        </p:nvSpPr>
        <p:spPr>
          <a:xfrm>
            <a:off x="4337304" y="1508760"/>
            <a:ext cx="3514344" cy="2103120"/>
          </a:xfrm>
          <a:prstGeom prst="roundRect">
            <a:avLst>
              <a:gd name="adj" fmla="val 5217"/>
            </a:avLst>
          </a:prstGeom>
          <a:solidFill>
            <a:srgbClr val="16456F"/>
          </a:solidFill>
          <a:ln/>
        </p:spPr>
      </p:sp>
      <p:sp>
        <p:nvSpPr>
          <p:cNvPr id="10" name="Shape 7"/>
          <p:cNvSpPr/>
          <p:nvPr/>
        </p:nvSpPr>
        <p:spPr>
          <a:xfrm>
            <a:off x="4538472" y="1709928"/>
            <a:ext cx="566928" cy="566928"/>
          </a:xfrm>
          <a:prstGeom prst="ellipse">
            <a:avLst/>
          </a:prstGeom>
          <a:solidFill>
            <a:srgbClr val="F5A623"/>
          </a:solidFill>
          <a:ln/>
          <a:effectLst>
            <a:outerShdw blurRad="76200" dist="25400" dir="5400000" algn="bl" rotWithShape="0">
              <a:srgbClr val="808080">
                <a:alpha val="25000"/>
              </a:srgbClr>
            </a:outerShdw>
          </a:effectLst>
        </p:spPr>
      </p:sp>
      <p:pic>
        <p:nvPicPr>
          <p:cNvPr id="11" name="Image 1" descr="/home/claude/dm_ppt/assets/icons/chatbots.png"/>
          <p:cNvPicPr>
            <a:picLocks noChangeAspect="1"/>
          </p:cNvPicPr>
          <p:nvPr/>
        </p:nvPicPr>
        <p:blipFill>
          <a:blip r:embed="rId4"/>
          <a:stretch>
            <a:fillRect/>
          </a:stretch>
        </p:blipFill>
        <p:spPr>
          <a:xfrm>
            <a:off x="4666031" y="1837487"/>
            <a:ext cx="311810" cy="311810"/>
          </a:xfrm>
          <a:prstGeom prst="rect">
            <a:avLst/>
          </a:prstGeom>
        </p:spPr>
      </p:pic>
      <p:sp>
        <p:nvSpPr>
          <p:cNvPr id="12" name="Text 8"/>
          <p:cNvSpPr/>
          <p:nvPr/>
        </p:nvSpPr>
        <p:spPr>
          <a:xfrm>
            <a:off x="4538472" y="2331720"/>
            <a:ext cx="3112008" cy="310896"/>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Chatbots</a:t>
            </a:r>
            <a:endParaRPr lang="en-US" sz="1400" dirty="0"/>
          </a:p>
        </p:txBody>
      </p:sp>
      <p:sp>
        <p:nvSpPr>
          <p:cNvPr id="13" name="Text 9"/>
          <p:cNvSpPr/>
          <p:nvPr/>
        </p:nvSpPr>
        <p:spPr>
          <a:xfrm>
            <a:off x="4538472" y="2642616"/>
            <a:ext cx="3112008" cy="859536"/>
          </a:xfrm>
          <a:prstGeom prst="rect">
            <a:avLst/>
          </a:prstGeom>
          <a:noFill/>
          <a:ln/>
        </p:spPr>
        <p:txBody>
          <a:bodyPr wrap="square" lIns="0" tIns="0" rIns="0" bIns="0" rtlCol="0" anchor="t"/>
          <a:lstStyle/>
          <a:p>
            <a:pPr marL="0" indent="0" algn="l">
              <a:buNone/>
            </a:pPr>
            <a:r>
              <a:rPr lang="en-US" sz="1100" dirty="0">
                <a:solidFill>
                  <a:srgbClr val="CFE3F2"/>
                </a:solidFill>
                <a:latin typeface="Calibri" pitchFamily="34" charset="0"/>
                <a:ea typeface="Calibri" pitchFamily="34" charset="-122"/>
                <a:cs typeface="Calibri" pitchFamily="34" charset="-120"/>
              </a:rPr>
              <a:t>Instant replies, 24x7 support</a:t>
            </a:r>
            <a:endParaRPr lang="en-US" sz="1100" dirty="0"/>
          </a:p>
        </p:txBody>
      </p:sp>
      <p:sp>
        <p:nvSpPr>
          <p:cNvPr id="14" name="Shape 10"/>
          <p:cNvSpPr/>
          <p:nvPr/>
        </p:nvSpPr>
        <p:spPr>
          <a:xfrm>
            <a:off x="8125968" y="1508760"/>
            <a:ext cx="3514344" cy="2103120"/>
          </a:xfrm>
          <a:prstGeom prst="roundRect">
            <a:avLst>
              <a:gd name="adj" fmla="val 5217"/>
            </a:avLst>
          </a:prstGeom>
          <a:solidFill>
            <a:srgbClr val="16456F"/>
          </a:solidFill>
          <a:ln/>
        </p:spPr>
      </p:sp>
      <p:sp>
        <p:nvSpPr>
          <p:cNvPr id="15" name="Shape 11"/>
          <p:cNvSpPr/>
          <p:nvPr/>
        </p:nvSpPr>
        <p:spPr>
          <a:xfrm>
            <a:off x="8327136" y="1709928"/>
            <a:ext cx="566928" cy="566928"/>
          </a:xfrm>
          <a:prstGeom prst="ellipse">
            <a:avLst/>
          </a:prstGeom>
          <a:solidFill>
            <a:srgbClr val="F5A623"/>
          </a:solidFill>
          <a:ln/>
          <a:effectLst>
            <a:outerShdw blurRad="76200" dist="25400" dir="5400000" algn="bl" rotWithShape="0">
              <a:srgbClr val="808080">
                <a:alpha val="25000"/>
              </a:srgbClr>
            </a:outerShdw>
          </a:effectLst>
        </p:spPr>
      </p:sp>
      <p:pic>
        <p:nvPicPr>
          <p:cNvPr id="16" name="Image 2" descr="/home/claude/dm_ppt/assets/icons/influencer.png"/>
          <p:cNvPicPr>
            <a:picLocks noChangeAspect="1"/>
          </p:cNvPicPr>
          <p:nvPr/>
        </p:nvPicPr>
        <p:blipFill>
          <a:blip r:embed="rId5"/>
          <a:stretch>
            <a:fillRect/>
          </a:stretch>
        </p:blipFill>
        <p:spPr>
          <a:xfrm>
            <a:off x="8454695" y="1837487"/>
            <a:ext cx="311810" cy="311810"/>
          </a:xfrm>
          <a:prstGeom prst="rect">
            <a:avLst/>
          </a:prstGeom>
        </p:spPr>
      </p:pic>
      <p:sp>
        <p:nvSpPr>
          <p:cNvPr id="17" name="Text 12"/>
          <p:cNvSpPr/>
          <p:nvPr/>
        </p:nvSpPr>
        <p:spPr>
          <a:xfrm>
            <a:off x="8327136" y="2331720"/>
            <a:ext cx="3112008" cy="310896"/>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Influencer Marketing</a:t>
            </a:r>
            <a:endParaRPr lang="en-US" sz="1400" dirty="0"/>
          </a:p>
        </p:txBody>
      </p:sp>
      <p:sp>
        <p:nvSpPr>
          <p:cNvPr id="18" name="Text 13"/>
          <p:cNvSpPr/>
          <p:nvPr/>
        </p:nvSpPr>
        <p:spPr>
          <a:xfrm>
            <a:off x="8327136" y="2642616"/>
            <a:ext cx="3112008" cy="859536"/>
          </a:xfrm>
          <a:prstGeom prst="rect">
            <a:avLst/>
          </a:prstGeom>
          <a:noFill/>
          <a:ln/>
        </p:spPr>
        <p:txBody>
          <a:bodyPr wrap="square" lIns="0" tIns="0" rIns="0" bIns="0" rtlCol="0" anchor="t"/>
          <a:lstStyle/>
          <a:p>
            <a:pPr marL="0" indent="0" algn="l">
              <a:buNone/>
            </a:pPr>
            <a:r>
              <a:rPr lang="en-US" sz="1100" dirty="0">
                <a:solidFill>
                  <a:srgbClr val="CFE3F2"/>
                </a:solidFill>
                <a:latin typeface="Calibri" pitchFamily="34" charset="0"/>
                <a:ea typeface="Calibri" pitchFamily="34" charset="-122"/>
                <a:cs typeface="Calibri" pitchFamily="34" charset="-120"/>
              </a:rPr>
              <a:t>Trusted voices promote brands</a:t>
            </a:r>
            <a:endParaRPr lang="en-US" sz="1100" dirty="0"/>
          </a:p>
        </p:txBody>
      </p:sp>
      <p:sp>
        <p:nvSpPr>
          <p:cNvPr id="19" name="Shape 14"/>
          <p:cNvSpPr/>
          <p:nvPr/>
        </p:nvSpPr>
        <p:spPr>
          <a:xfrm>
            <a:off x="548640" y="3840480"/>
            <a:ext cx="3514344" cy="2103120"/>
          </a:xfrm>
          <a:prstGeom prst="roundRect">
            <a:avLst>
              <a:gd name="adj" fmla="val 5217"/>
            </a:avLst>
          </a:prstGeom>
          <a:solidFill>
            <a:srgbClr val="16456F"/>
          </a:solidFill>
          <a:ln/>
        </p:spPr>
      </p:sp>
      <p:sp>
        <p:nvSpPr>
          <p:cNvPr id="20" name="Shape 15"/>
          <p:cNvSpPr/>
          <p:nvPr/>
        </p:nvSpPr>
        <p:spPr>
          <a:xfrm>
            <a:off x="749808" y="4041648"/>
            <a:ext cx="566928" cy="566928"/>
          </a:xfrm>
          <a:prstGeom prst="ellipse">
            <a:avLst/>
          </a:prstGeom>
          <a:solidFill>
            <a:srgbClr val="F5A623"/>
          </a:solidFill>
          <a:ln/>
          <a:effectLst>
            <a:outerShdw blurRad="76200" dist="25400" dir="5400000" algn="bl" rotWithShape="0">
              <a:srgbClr val="808080">
                <a:alpha val="25000"/>
              </a:srgbClr>
            </a:outerShdw>
          </a:effectLst>
        </p:spPr>
      </p:sp>
      <p:pic>
        <p:nvPicPr>
          <p:cNvPr id="21" name="Image 3" descr="/home/claude/dm_ppt/assets/icons/voice.png"/>
          <p:cNvPicPr>
            <a:picLocks noChangeAspect="1"/>
          </p:cNvPicPr>
          <p:nvPr/>
        </p:nvPicPr>
        <p:blipFill>
          <a:blip r:embed="rId6"/>
          <a:stretch>
            <a:fillRect/>
          </a:stretch>
        </p:blipFill>
        <p:spPr>
          <a:xfrm>
            <a:off x="877367" y="4169207"/>
            <a:ext cx="311810" cy="311810"/>
          </a:xfrm>
          <a:prstGeom prst="rect">
            <a:avLst/>
          </a:prstGeom>
        </p:spPr>
      </p:pic>
      <p:sp>
        <p:nvSpPr>
          <p:cNvPr id="22" name="Text 16"/>
          <p:cNvSpPr/>
          <p:nvPr/>
        </p:nvSpPr>
        <p:spPr>
          <a:xfrm>
            <a:off x="749808" y="4663440"/>
            <a:ext cx="3112008" cy="310896"/>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Voice Search</a:t>
            </a:r>
            <a:endParaRPr lang="en-US" sz="1400" dirty="0"/>
          </a:p>
        </p:txBody>
      </p:sp>
      <p:sp>
        <p:nvSpPr>
          <p:cNvPr id="23" name="Text 17"/>
          <p:cNvSpPr/>
          <p:nvPr/>
        </p:nvSpPr>
        <p:spPr>
          <a:xfrm>
            <a:off x="749808" y="4974336"/>
            <a:ext cx="3112008" cy="859536"/>
          </a:xfrm>
          <a:prstGeom prst="rect">
            <a:avLst/>
          </a:prstGeom>
          <a:noFill/>
          <a:ln/>
        </p:spPr>
        <p:txBody>
          <a:bodyPr wrap="square" lIns="0" tIns="0" rIns="0" bIns="0" rtlCol="0" anchor="t"/>
          <a:lstStyle/>
          <a:p>
            <a:pPr marL="0" indent="0" algn="l">
              <a:buNone/>
            </a:pPr>
            <a:r>
              <a:rPr lang="en-US" sz="1100" dirty="0">
                <a:solidFill>
                  <a:srgbClr val="CFE3F2"/>
                </a:solidFill>
                <a:latin typeface="Calibri" pitchFamily="34" charset="0"/>
                <a:ea typeface="Calibri" pitchFamily="34" charset="-122"/>
                <a:cs typeface="Calibri" pitchFamily="34" charset="-120"/>
              </a:rPr>
              <a:t>Searching using Alexa, Google</a:t>
            </a:r>
            <a:endParaRPr lang="en-US" sz="1100" dirty="0"/>
          </a:p>
        </p:txBody>
      </p:sp>
      <p:sp>
        <p:nvSpPr>
          <p:cNvPr id="24" name="Shape 18"/>
          <p:cNvSpPr/>
          <p:nvPr/>
        </p:nvSpPr>
        <p:spPr>
          <a:xfrm>
            <a:off x="4337304" y="3840480"/>
            <a:ext cx="3514344" cy="2103120"/>
          </a:xfrm>
          <a:prstGeom prst="roundRect">
            <a:avLst>
              <a:gd name="adj" fmla="val 5217"/>
            </a:avLst>
          </a:prstGeom>
          <a:solidFill>
            <a:srgbClr val="16456F"/>
          </a:solidFill>
          <a:ln/>
        </p:spPr>
      </p:sp>
      <p:sp>
        <p:nvSpPr>
          <p:cNvPr id="25" name="Shape 19"/>
          <p:cNvSpPr/>
          <p:nvPr/>
        </p:nvSpPr>
        <p:spPr>
          <a:xfrm>
            <a:off x="4538472" y="4041648"/>
            <a:ext cx="566928" cy="566928"/>
          </a:xfrm>
          <a:prstGeom prst="ellipse">
            <a:avLst/>
          </a:prstGeom>
          <a:solidFill>
            <a:srgbClr val="F5A623"/>
          </a:solidFill>
          <a:ln/>
          <a:effectLst>
            <a:outerShdw blurRad="76200" dist="25400" dir="5400000" algn="bl" rotWithShape="0">
              <a:srgbClr val="808080">
                <a:alpha val="25000"/>
              </a:srgbClr>
            </a:outerShdw>
          </a:effectLst>
        </p:spPr>
      </p:sp>
      <p:pic>
        <p:nvPicPr>
          <p:cNvPr id="26" name="Image 4" descr="/home/claude/dm_ppt/assets/icons/personalization.png"/>
          <p:cNvPicPr>
            <a:picLocks noChangeAspect="1"/>
          </p:cNvPicPr>
          <p:nvPr/>
        </p:nvPicPr>
        <p:blipFill>
          <a:blip r:embed="rId7"/>
          <a:stretch>
            <a:fillRect/>
          </a:stretch>
        </p:blipFill>
        <p:spPr>
          <a:xfrm>
            <a:off x="4666031" y="4169207"/>
            <a:ext cx="311810" cy="311810"/>
          </a:xfrm>
          <a:prstGeom prst="rect">
            <a:avLst/>
          </a:prstGeom>
        </p:spPr>
      </p:pic>
      <p:sp>
        <p:nvSpPr>
          <p:cNvPr id="27" name="Text 20"/>
          <p:cNvSpPr/>
          <p:nvPr/>
        </p:nvSpPr>
        <p:spPr>
          <a:xfrm>
            <a:off x="4538472" y="4663440"/>
            <a:ext cx="3112008" cy="310896"/>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Personalization</a:t>
            </a:r>
            <a:endParaRPr lang="en-US" sz="1400" dirty="0"/>
          </a:p>
        </p:txBody>
      </p:sp>
      <p:sp>
        <p:nvSpPr>
          <p:cNvPr id="28" name="Text 21"/>
          <p:cNvSpPr/>
          <p:nvPr/>
        </p:nvSpPr>
        <p:spPr>
          <a:xfrm>
            <a:off x="4538472" y="4974336"/>
            <a:ext cx="3112008" cy="859536"/>
          </a:xfrm>
          <a:prstGeom prst="rect">
            <a:avLst/>
          </a:prstGeom>
          <a:noFill/>
          <a:ln/>
        </p:spPr>
        <p:txBody>
          <a:bodyPr wrap="square" lIns="0" tIns="0" rIns="0" bIns="0" rtlCol="0" anchor="t"/>
          <a:lstStyle/>
          <a:p>
            <a:pPr marL="0" indent="0" algn="l">
              <a:buNone/>
            </a:pPr>
            <a:r>
              <a:rPr lang="en-US" sz="1100" dirty="0">
                <a:solidFill>
                  <a:srgbClr val="CFE3F2"/>
                </a:solidFill>
                <a:latin typeface="Calibri" pitchFamily="34" charset="0"/>
                <a:ea typeface="Calibri" pitchFamily="34" charset="-122"/>
                <a:cs typeface="Calibri" pitchFamily="34" charset="-120"/>
              </a:rPr>
              <a:t>Ads matched to each user</a:t>
            </a:r>
            <a:endParaRPr lang="en-US" sz="1100" dirty="0"/>
          </a:p>
        </p:txBody>
      </p:sp>
      <p:sp>
        <p:nvSpPr>
          <p:cNvPr id="29" name="Shape 22"/>
          <p:cNvSpPr/>
          <p:nvPr/>
        </p:nvSpPr>
        <p:spPr>
          <a:xfrm>
            <a:off x="8125968" y="3840480"/>
            <a:ext cx="3514344" cy="2103120"/>
          </a:xfrm>
          <a:prstGeom prst="roundRect">
            <a:avLst>
              <a:gd name="adj" fmla="val 5217"/>
            </a:avLst>
          </a:prstGeom>
          <a:solidFill>
            <a:srgbClr val="16456F"/>
          </a:solidFill>
          <a:ln/>
        </p:spPr>
      </p:sp>
      <p:sp>
        <p:nvSpPr>
          <p:cNvPr id="30" name="Shape 23"/>
          <p:cNvSpPr/>
          <p:nvPr/>
        </p:nvSpPr>
        <p:spPr>
          <a:xfrm>
            <a:off x="8327136" y="4041648"/>
            <a:ext cx="566928" cy="566928"/>
          </a:xfrm>
          <a:prstGeom prst="ellipse">
            <a:avLst/>
          </a:prstGeom>
          <a:solidFill>
            <a:srgbClr val="F5A623"/>
          </a:solidFill>
          <a:ln/>
          <a:effectLst>
            <a:outerShdw blurRad="76200" dist="25400" dir="5400000" algn="bl" rotWithShape="0">
              <a:srgbClr val="808080">
                <a:alpha val="25000"/>
              </a:srgbClr>
            </a:outerShdw>
          </a:effectLst>
        </p:spPr>
      </p:sp>
      <p:pic>
        <p:nvPicPr>
          <p:cNvPr id="31" name="Image 5" descr="/home/claude/dm_ppt/assets/icons/automation.png"/>
          <p:cNvPicPr>
            <a:picLocks noChangeAspect="1"/>
          </p:cNvPicPr>
          <p:nvPr/>
        </p:nvPicPr>
        <p:blipFill>
          <a:blip r:embed="rId8"/>
          <a:stretch>
            <a:fillRect/>
          </a:stretch>
        </p:blipFill>
        <p:spPr>
          <a:xfrm>
            <a:off x="8454695" y="4169207"/>
            <a:ext cx="311810" cy="311810"/>
          </a:xfrm>
          <a:prstGeom prst="rect">
            <a:avLst/>
          </a:prstGeom>
        </p:spPr>
      </p:pic>
      <p:sp>
        <p:nvSpPr>
          <p:cNvPr id="32" name="Text 24"/>
          <p:cNvSpPr/>
          <p:nvPr/>
        </p:nvSpPr>
        <p:spPr>
          <a:xfrm>
            <a:off x="8327136" y="4663440"/>
            <a:ext cx="3112008" cy="310896"/>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Automation</a:t>
            </a:r>
            <a:endParaRPr lang="en-US" sz="1400" dirty="0"/>
          </a:p>
        </p:txBody>
      </p:sp>
      <p:sp>
        <p:nvSpPr>
          <p:cNvPr id="33" name="Text 25"/>
          <p:cNvSpPr/>
          <p:nvPr/>
        </p:nvSpPr>
        <p:spPr>
          <a:xfrm>
            <a:off x="8327136" y="4974336"/>
            <a:ext cx="3112008" cy="859536"/>
          </a:xfrm>
          <a:prstGeom prst="rect">
            <a:avLst/>
          </a:prstGeom>
          <a:noFill/>
          <a:ln/>
        </p:spPr>
        <p:txBody>
          <a:bodyPr wrap="square" lIns="0" tIns="0" rIns="0" bIns="0" rtlCol="0" anchor="t"/>
          <a:lstStyle/>
          <a:p>
            <a:pPr marL="0" indent="0" algn="l">
              <a:buNone/>
            </a:pPr>
            <a:r>
              <a:rPr lang="en-US" sz="1100" dirty="0">
                <a:solidFill>
                  <a:srgbClr val="CFE3F2"/>
                </a:solidFill>
                <a:latin typeface="Calibri" pitchFamily="34" charset="0"/>
                <a:ea typeface="Calibri" pitchFamily="34" charset="-122"/>
                <a:cs typeface="Calibri" pitchFamily="34" charset="-120"/>
              </a:rPr>
              <a:t>Saves time on repeat tasks</a:t>
            </a:r>
            <a:endParaRPr lang="en-US" sz="1100" dirty="0"/>
          </a:p>
        </p:txBody>
      </p:sp>
      <p:sp>
        <p:nvSpPr>
          <p:cNvPr id="34" name="Text 26"/>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9FC1DA"/>
                </a:solidFill>
                <a:latin typeface="Calibri" pitchFamily="34" charset="0"/>
                <a:ea typeface="Calibri" pitchFamily="34" charset="-122"/>
                <a:cs typeface="Calibri" pitchFamily="34" charset="-120"/>
              </a:rPr>
              <a:t>J.B.S.P. Sanstha's College, Panvel</a:t>
            </a:r>
            <a:endParaRPr lang="en-US" sz="900" dirty="0"/>
          </a:p>
        </p:txBody>
      </p:sp>
      <p:sp>
        <p:nvSpPr>
          <p:cNvPr id="35" name="Text 27"/>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9FC1DA"/>
                </a:solidFill>
                <a:latin typeface="Calibri" pitchFamily="34" charset="0"/>
                <a:ea typeface="Calibri" pitchFamily="34" charset="-122"/>
                <a:cs typeface="Calibri" pitchFamily="34" charset="-120"/>
              </a:rPr>
              <a:t>9</a:t>
            </a:r>
            <a:endParaRPr lang="en-US" sz="900" dirty="0"/>
          </a:p>
        </p:txBody>
      </p:sp>
    </p:spTree>
  </p:cSld>
  <p:clrMapOvr>
    <a:masterClrMapping/>
  </p:clrMapOvr>
  <p:transition>
    <p:wip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685800"/>
          </a:xfrm>
          <a:prstGeom prst="rect">
            <a:avLst/>
          </a:prstGeom>
          <a:noFill/>
          <a:ln/>
        </p:spPr>
        <p:txBody>
          <a:bodyPr wrap="square" rtlCol="0" anchor="ctr"/>
          <a:lstStyle/>
          <a:p>
            <a:pPr marL="0" indent="0" algn="l">
              <a:buNone/>
            </a:pPr>
            <a:r>
              <a:rPr lang="en-US" sz="3200" b="1" dirty="0">
                <a:solidFill>
                  <a:srgbClr val="12395B"/>
                </a:solidFill>
                <a:latin typeface="Cambria" pitchFamily="34" charset="0"/>
                <a:ea typeface="Cambria" pitchFamily="34" charset="-122"/>
                <a:cs typeface="Cambria" pitchFamily="34" charset="-120"/>
              </a:rPr>
              <a:t>Career Opportunities</a:t>
            </a:r>
            <a:endParaRPr lang="en-US" sz="3200" dirty="0"/>
          </a:p>
        </p:txBody>
      </p:sp>
      <p:sp>
        <p:nvSpPr>
          <p:cNvPr id="3" name="Shape 1"/>
          <p:cNvSpPr/>
          <p:nvPr/>
        </p:nvSpPr>
        <p:spPr>
          <a:xfrm>
            <a:off x="0" y="1170432"/>
            <a:ext cx="12188952" cy="18288"/>
          </a:xfrm>
          <a:prstGeom prst="rect">
            <a:avLst/>
          </a:prstGeom>
          <a:solidFill>
            <a:srgbClr val="E3E9EF"/>
          </a:solidFill>
          <a:ln/>
        </p:spPr>
      </p:sp>
      <p:sp>
        <p:nvSpPr>
          <p:cNvPr id="4" name="Shape 2"/>
          <p:cNvSpPr/>
          <p:nvPr/>
        </p:nvSpPr>
        <p:spPr>
          <a:xfrm>
            <a:off x="548640" y="1508760"/>
            <a:ext cx="3514344" cy="2103120"/>
          </a:xfrm>
          <a:prstGeom prst="roundRect">
            <a:avLst>
              <a:gd name="adj" fmla="val 5217"/>
            </a:avLst>
          </a:prstGeom>
          <a:solidFill>
            <a:srgbClr val="EAF3FB"/>
          </a:solidFill>
          <a:ln/>
          <a:effectLst>
            <a:outerShdw blurRad="101600" dist="25400" dir="5400000" algn="bl" rotWithShape="0">
              <a:srgbClr val="8090A0">
                <a:alpha val="18000"/>
              </a:srgbClr>
            </a:outerShdw>
          </a:effectLst>
        </p:spPr>
      </p:sp>
      <p:sp>
        <p:nvSpPr>
          <p:cNvPr id="5" name="Shape 3"/>
          <p:cNvSpPr/>
          <p:nvPr/>
        </p:nvSpPr>
        <p:spPr>
          <a:xfrm>
            <a:off x="749808" y="1709928"/>
            <a:ext cx="566928" cy="566928"/>
          </a:xfrm>
          <a:prstGeom prst="ellipse">
            <a:avLst/>
          </a:prstGeom>
          <a:solidFill>
            <a:srgbClr val="1B6FA8"/>
          </a:solidFill>
          <a:ln/>
          <a:effectLst>
            <a:outerShdw blurRad="76200" dist="25400" dir="5400000" algn="bl" rotWithShape="0">
              <a:srgbClr val="808080">
                <a:alpha val="25000"/>
              </a:srgbClr>
            </a:outerShdw>
          </a:effectLst>
        </p:spPr>
      </p:sp>
      <p:pic>
        <p:nvPicPr>
          <p:cNvPr id="6" name="Image 0" descr="/home/claude/dm_ppt/assets/icons/career_seo.png"/>
          <p:cNvPicPr>
            <a:picLocks noChangeAspect="1"/>
          </p:cNvPicPr>
          <p:nvPr/>
        </p:nvPicPr>
        <p:blipFill>
          <a:blip r:embed="rId3"/>
          <a:stretch>
            <a:fillRect/>
          </a:stretch>
        </p:blipFill>
        <p:spPr>
          <a:xfrm>
            <a:off x="877367" y="1837487"/>
            <a:ext cx="311810" cy="311810"/>
          </a:xfrm>
          <a:prstGeom prst="rect">
            <a:avLst/>
          </a:prstGeom>
        </p:spPr>
      </p:pic>
      <p:sp>
        <p:nvSpPr>
          <p:cNvPr id="7" name="Text 4"/>
          <p:cNvSpPr/>
          <p:nvPr/>
        </p:nvSpPr>
        <p:spPr>
          <a:xfrm>
            <a:off x="749808" y="2331720"/>
            <a:ext cx="3112008" cy="310896"/>
          </a:xfrm>
          <a:prstGeom prst="rect">
            <a:avLst/>
          </a:prstGeom>
          <a:noFill/>
          <a:ln/>
        </p:spPr>
        <p:txBody>
          <a:bodyPr wrap="square" lIns="0" tIns="0" rIns="0" bIns="0" rtlCol="0" anchor="ctr"/>
          <a:lstStyle/>
          <a:p>
            <a:pPr marL="0" indent="0" algn="l">
              <a:buNone/>
            </a:pPr>
            <a:r>
              <a:rPr lang="en-US" sz="1400" b="1" dirty="0">
                <a:solidFill>
                  <a:srgbClr val="1B2430"/>
                </a:solidFill>
                <a:latin typeface="Calibri" pitchFamily="34" charset="0"/>
                <a:ea typeface="Calibri" pitchFamily="34" charset="-122"/>
                <a:cs typeface="Calibri" pitchFamily="34" charset="-120"/>
              </a:rPr>
              <a:t>SEO Specialist</a:t>
            </a:r>
            <a:endParaRPr lang="en-US" sz="1400" dirty="0"/>
          </a:p>
        </p:txBody>
      </p:sp>
      <p:sp>
        <p:nvSpPr>
          <p:cNvPr id="8" name="Shape 5"/>
          <p:cNvSpPr/>
          <p:nvPr/>
        </p:nvSpPr>
        <p:spPr>
          <a:xfrm>
            <a:off x="749808" y="3154680"/>
            <a:ext cx="1371600" cy="292608"/>
          </a:xfrm>
          <a:prstGeom prst="roundRect">
            <a:avLst>
              <a:gd name="adj" fmla="val 50000"/>
            </a:avLst>
          </a:prstGeom>
          <a:solidFill>
            <a:srgbClr val="F5A623"/>
          </a:solidFill>
          <a:ln/>
        </p:spPr>
      </p:sp>
      <p:sp>
        <p:nvSpPr>
          <p:cNvPr id="9" name="Text 6"/>
          <p:cNvSpPr/>
          <p:nvPr/>
        </p:nvSpPr>
        <p:spPr>
          <a:xfrm>
            <a:off x="749808" y="3154680"/>
            <a:ext cx="137160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High Demand</a:t>
            </a:r>
            <a:endParaRPr lang="en-US" sz="1000" dirty="0"/>
          </a:p>
        </p:txBody>
      </p:sp>
      <p:sp>
        <p:nvSpPr>
          <p:cNvPr id="10" name="Shape 7"/>
          <p:cNvSpPr/>
          <p:nvPr/>
        </p:nvSpPr>
        <p:spPr>
          <a:xfrm>
            <a:off x="4337304" y="1508760"/>
            <a:ext cx="3514344" cy="2103120"/>
          </a:xfrm>
          <a:prstGeom prst="roundRect">
            <a:avLst>
              <a:gd name="adj" fmla="val 5217"/>
            </a:avLst>
          </a:prstGeom>
          <a:solidFill>
            <a:srgbClr val="EAF3FB"/>
          </a:solidFill>
          <a:ln/>
          <a:effectLst>
            <a:outerShdw blurRad="101600" dist="25400" dir="5400000" algn="bl" rotWithShape="0">
              <a:srgbClr val="8090A0">
                <a:alpha val="18000"/>
              </a:srgbClr>
            </a:outerShdw>
          </a:effectLst>
        </p:spPr>
      </p:sp>
      <p:sp>
        <p:nvSpPr>
          <p:cNvPr id="11" name="Shape 8"/>
          <p:cNvSpPr/>
          <p:nvPr/>
        </p:nvSpPr>
        <p:spPr>
          <a:xfrm>
            <a:off x="4538472" y="1709928"/>
            <a:ext cx="566928" cy="566928"/>
          </a:xfrm>
          <a:prstGeom prst="ellipse">
            <a:avLst/>
          </a:prstGeom>
          <a:solidFill>
            <a:srgbClr val="12395B"/>
          </a:solidFill>
          <a:ln/>
          <a:effectLst>
            <a:outerShdw blurRad="76200" dist="25400" dir="5400000" algn="bl" rotWithShape="0">
              <a:srgbClr val="808080">
                <a:alpha val="25000"/>
              </a:srgbClr>
            </a:outerShdw>
          </a:effectLst>
        </p:spPr>
      </p:sp>
      <p:pic>
        <p:nvPicPr>
          <p:cNvPr id="12" name="Image 1" descr="/home/claude/dm_ppt/assets/icons/career_social.png"/>
          <p:cNvPicPr>
            <a:picLocks noChangeAspect="1"/>
          </p:cNvPicPr>
          <p:nvPr/>
        </p:nvPicPr>
        <p:blipFill>
          <a:blip r:embed="rId4"/>
          <a:stretch>
            <a:fillRect/>
          </a:stretch>
        </p:blipFill>
        <p:spPr>
          <a:xfrm>
            <a:off x="4666031" y="1837487"/>
            <a:ext cx="311810" cy="311810"/>
          </a:xfrm>
          <a:prstGeom prst="rect">
            <a:avLst/>
          </a:prstGeom>
        </p:spPr>
      </p:pic>
      <p:sp>
        <p:nvSpPr>
          <p:cNvPr id="13" name="Text 9"/>
          <p:cNvSpPr/>
          <p:nvPr/>
        </p:nvSpPr>
        <p:spPr>
          <a:xfrm>
            <a:off x="4538472" y="2331720"/>
            <a:ext cx="3112008" cy="310896"/>
          </a:xfrm>
          <a:prstGeom prst="rect">
            <a:avLst/>
          </a:prstGeom>
          <a:noFill/>
          <a:ln/>
        </p:spPr>
        <p:txBody>
          <a:bodyPr wrap="square" lIns="0" tIns="0" rIns="0" bIns="0" rtlCol="0" anchor="ctr"/>
          <a:lstStyle/>
          <a:p>
            <a:pPr marL="0" indent="0" algn="l">
              <a:buNone/>
            </a:pPr>
            <a:r>
              <a:rPr lang="en-US" sz="1400" b="1" dirty="0">
                <a:solidFill>
                  <a:srgbClr val="1B2430"/>
                </a:solidFill>
                <a:latin typeface="Calibri" pitchFamily="34" charset="0"/>
                <a:ea typeface="Calibri" pitchFamily="34" charset="-122"/>
                <a:cs typeface="Calibri" pitchFamily="34" charset="-120"/>
              </a:rPr>
              <a:t>Social Media Manager</a:t>
            </a:r>
            <a:endParaRPr lang="en-US" sz="1400" dirty="0"/>
          </a:p>
        </p:txBody>
      </p:sp>
      <p:sp>
        <p:nvSpPr>
          <p:cNvPr id="14" name="Shape 10"/>
          <p:cNvSpPr/>
          <p:nvPr/>
        </p:nvSpPr>
        <p:spPr>
          <a:xfrm>
            <a:off x="4538472" y="3154680"/>
            <a:ext cx="1371600" cy="292608"/>
          </a:xfrm>
          <a:prstGeom prst="roundRect">
            <a:avLst>
              <a:gd name="adj" fmla="val 50000"/>
            </a:avLst>
          </a:prstGeom>
          <a:solidFill>
            <a:srgbClr val="F5A623"/>
          </a:solidFill>
          <a:ln/>
        </p:spPr>
      </p:sp>
      <p:sp>
        <p:nvSpPr>
          <p:cNvPr id="15" name="Text 11"/>
          <p:cNvSpPr/>
          <p:nvPr/>
        </p:nvSpPr>
        <p:spPr>
          <a:xfrm>
            <a:off x="4538472" y="3154680"/>
            <a:ext cx="137160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Growing Fast</a:t>
            </a:r>
            <a:endParaRPr lang="en-US" sz="1000" dirty="0"/>
          </a:p>
        </p:txBody>
      </p:sp>
      <p:sp>
        <p:nvSpPr>
          <p:cNvPr id="16" name="Shape 12"/>
          <p:cNvSpPr/>
          <p:nvPr/>
        </p:nvSpPr>
        <p:spPr>
          <a:xfrm>
            <a:off x="8125968" y="1508760"/>
            <a:ext cx="3514344" cy="2103120"/>
          </a:xfrm>
          <a:prstGeom prst="roundRect">
            <a:avLst>
              <a:gd name="adj" fmla="val 5217"/>
            </a:avLst>
          </a:prstGeom>
          <a:solidFill>
            <a:srgbClr val="EAF3FB"/>
          </a:solidFill>
          <a:ln/>
          <a:effectLst>
            <a:outerShdw blurRad="101600" dist="25400" dir="5400000" algn="bl" rotWithShape="0">
              <a:srgbClr val="8090A0">
                <a:alpha val="18000"/>
              </a:srgbClr>
            </a:outerShdw>
          </a:effectLst>
        </p:spPr>
      </p:sp>
      <p:sp>
        <p:nvSpPr>
          <p:cNvPr id="17" name="Shape 13"/>
          <p:cNvSpPr/>
          <p:nvPr/>
        </p:nvSpPr>
        <p:spPr>
          <a:xfrm>
            <a:off x="8327136" y="1709928"/>
            <a:ext cx="566928" cy="566928"/>
          </a:xfrm>
          <a:prstGeom prst="ellipse">
            <a:avLst/>
          </a:prstGeom>
          <a:solidFill>
            <a:srgbClr val="1B6FA8"/>
          </a:solidFill>
          <a:ln/>
          <a:effectLst>
            <a:outerShdw blurRad="76200" dist="25400" dir="5400000" algn="bl" rotWithShape="0">
              <a:srgbClr val="808080">
                <a:alpha val="25000"/>
              </a:srgbClr>
            </a:outerShdw>
          </a:effectLst>
        </p:spPr>
      </p:sp>
      <p:pic>
        <p:nvPicPr>
          <p:cNvPr id="18" name="Image 2" descr="/home/claude/dm_ppt/assets/icons/career_writer.png"/>
          <p:cNvPicPr>
            <a:picLocks noChangeAspect="1"/>
          </p:cNvPicPr>
          <p:nvPr/>
        </p:nvPicPr>
        <p:blipFill>
          <a:blip r:embed="rId5"/>
          <a:stretch>
            <a:fillRect/>
          </a:stretch>
        </p:blipFill>
        <p:spPr>
          <a:xfrm>
            <a:off x="8454695" y="1837487"/>
            <a:ext cx="311810" cy="311810"/>
          </a:xfrm>
          <a:prstGeom prst="rect">
            <a:avLst/>
          </a:prstGeom>
        </p:spPr>
      </p:pic>
      <p:sp>
        <p:nvSpPr>
          <p:cNvPr id="19" name="Text 14"/>
          <p:cNvSpPr/>
          <p:nvPr/>
        </p:nvSpPr>
        <p:spPr>
          <a:xfrm>
            <a:off x="8327136" y="2331720"/>
            <a:ext cx="3112008" cy="310896"/>
          </a:xfrm>
          <a:prstGeom prst="rect">
            <a:avLst/>
          </a:prstGeom>
          <a:noFill/>
          <a:ln/>
        </p:spPr>
        <p:txBody>
          <a:bodyPr wrap="square" lIns="0" tIns="0" rIns="0" bIns="0" rtlCol="0" anchor="ctr"/>
          <a:lstStyle/>
          <a:p>
            <a:pPr marL="0" indent="0" algn="l">
              <a:buNone/>
            </a:pPr>
            <a:r>
              <a:rPr lang="en-US" sz="1400" b="1" dirty="0">
                <a:solidFill>
                  <a:srgbClr val="1B2430"/>
                </a:solidFill>
                <a:latin typeface="Calibri" pitchFamily="34" charset="0"/>
                <a:ea typeface="Calibri" pitchFamily="34" charset="-122"/>
                <a:cs typeface="Calibri" pitchFamily="34" charset="-120"/>
              </a:rPr>
              <a:t>Content Writer</a:t>
            </a:r>
            <a:endParaRPr lang="en-US" sz="1400" dirty="0"/>
          </a:p>
        </p:txBody>
      </p:sp>
      <p:sp>
        <p:nvSpPr>
          <p:cNvPr id="20" name="Shape 15"/>
          <p:cNvSpPr/>
          <p:nvPr/>
        </p:nvSpPr>
        <p:spPr>
          <a:xfrm>
            <a:off x="8327136" y="3154680"/>
            <a:ext cx="1371600" cy="292608"/>
          </a:xfrm>
          <a:prstGeom prst="roundRect">
            <a:avLst>
              <a:gd name="adj" fmla="val 50000"/>
            </a:avLst>
          </a:prstGeom>
          <a:solidFill>
            <a:srgbClr val="F5A623"/>
          </a:solidFill>
          <a:ln/>
        </p:spPr>
      </p:sp>
      <p:sp>
        <p:nvSpPr>
          <p:cNvPr id="21" name="Text 16"/>
          <p:cNvSpPr/>
          <p:nvPr/>
        </p:nvSpPr>
        <p:spPr>
          <a:xfrm>
            <a:off x="8327136" y="3154680"/>
            <a:ext cx="137160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Steady Demand</a:t>
            </a:r>
            <a:endParaRPr lang="en-US" sz="1000" dirty="0"/>
          </a:p>
        </p:txBody>
      </p:sp>
      <p:sp>
        <p:nvSpPr>
          <p:cNvPr id="22" name="Shape 17"/>
          <p:cNvSpPr/>
          <p:nvPr/>
        </p:nvSpPr>
        <p:spPr>
          <a:xfrm>
            <a:off x="548640" y="3840480"/>
            <a:ext cx="3514344" cy="2103120"/>
          </a:xfrm>
          <a:prstGeom prst="roundRect">
            <a:avLst>
              <a:gd name="adj" fmla="val 5217"/>
            </a:avLst>
          </a:prstGeom>
          <a:solidFill>
            <a:srgbClr val="EAF3FB"/>
          </a:solidFill>
          <a:ln/>
          <a:effectLst>
            <a:outerShdw blurRad="101600" dist="25400" dir="5400000" algn="bl" rotWithShape="0">
              <a:srgbClr val="8090A0">
                <a:alpha val="18000"/>
              </a:srgbClr>
            </a:outerShdw>
          </a:effectLst>
        </p:spPr>
      </p:sp>
      <p:sp>
        <p:nvSpPr>
          <p:cNvPr id="23" name="Shape 18"/>
          <p:cNvSpPr/>
          <p:nvPr/>
        </p:nvSpPr>
        <p:spPr>
          <a:xfrm>
            <a:off x="749808" y="4041648"/>
            <a:ext cx="566928" cy="566928"/>
          </a:xfrm>
          <a:prstGeom prst="ellipse">
            <a:avLst/>
          </a:prstGeom>
          <a:solidFill>
            <a:srgbClr val="12395B"/>
          </a:solidFill>
          <a:ln/>
          <a:effectLst>
            <a:outerShdw blurRad="76200" dist="25400" dir="5400000" algn="bl" rotWithShape="0">
              <a:srgbClr val="808080">
                <a:alpha val="25000"/>
              </a:srgbClr>
            </a:outerShdw>
          </a:effectLst>
        </p:spPr>
      </p:sp>
      <p:pic>
        <p:nvPicPr>
          <p:cNvPr id="24" name="Image 3" descr="/home/claude/dm_ppt/assets/icons/career_ppc.png"/>
          <p:cNvPicPr>
            <a:picLocks noChangeAspect="1"/>
          </p:cNvPicPr>
          <p:nvPr/>
        </p:nvPicPr>
        <p:blipFill>
          <a:blip r:embed="rId6"/>
          <a:stretch>
            <a:fillRect/>
          </a:stretch>
        </p:blipFill>
        <p:spPr>
          <a:xfrm>
            <a:off x="877367" y="4169207"/>
            <a:ext cx="311810" cy="311810"/>
          </a:xfrm>
          <a:prstGeom prst="rect">
            <a:avLst/>
          </a:prstGeom>
        </p:spPr>
      </p:pic>
      <p:sp>
        <p:nvSpPr>
          <p:cNvPr id="25" name="Text 19"/>
          <p:cNvSpPr/>
          <p:nvPr/>
        </p:nvSpPr>
        <p:spPr>
          <a:xfrm>
            <a:off x="749808" y="4663440"/>
            <a:ext cx="3112008" cy="310896"/>
          </a:xfrm>
          <a:prstGeom prst="rect">
            <a:avLst/>
          </a:prstGeom>
          <a:noFill/>
          <a:ln/>
        </p:spPr>
        <p:txBody>
          <a:bodyPr wrap="square" lIns="0" tIns="0" rIns="0" bIns="0" rtlCol="0" anchor="ctr"/>
          <a:lstStyle/>
          <a:p>
            <a:pPr marL="0" indent="0" algn="l">
              <a:buNone/>
            </a:pPr>
            <a:r>
              <a:rPr lang="en-US" sz="1400" b="1" dirty="0">
                <a:solidFill>
                  <a:srgbClr val="1B2430"/>
                </a:solidFill>
                <a:latin typeface="Calibri" pitchFamily="34" charset="0"/>
                <a:ea typeface="Calibri" pitchFamily="34" charset="-122"/>
                <a:cs typeface="Calibri" pitchFamily="34" charset="-120"/>
              </a:rPr>
              <a:t>PPC Expert</a:t>
            </a:r>
            <a:endParaRPr lang="en-US" sz="1400" dirty="0"/>
          </a:p>
        </p:txBody>
      </p:sp>
      <p:sp>
        <p:nvSpPr>
          <p:cNvPr id="26" name="Shape 20"/>
          <p:cNvSpPr/>
          <p:nvPr/>
        </p:nvSpPr>
        <p:spPr>
          <a:xfrm>
            <a:off x="749808" y="5486400"/>
            <a:ext cx="1371600" cy="292608"/>
          </a:xfrm>
          <a:prstGeom prst="roundRect">
            <a:avLst>
              <a:gd name="adj" fmla="val 50000"/>
            </a:avLst>
          </a:prstGeom>
          <a:solidFill>
            <a:srgbClr val="F5A623"/>
          </a:solidFill>
          <a:ln/>
        </p:spPr>
      </p:sp>
      <p:sp>
        <p:nvSpPr>
          <p:cNvPr id="27" name="Text 21"/>
          <p:cNvSpPr/>
          <p:nvPr/>
        </p:nvSpPr>
        <p:spPr>
          <a:xfrm>
            <a:off x="749808" y="5486400"/>
            <a:ext cx="137160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High Demand</a:t>
            </a:r>
            <a:endParaRPr lang="en-US" sz="1000" dirty="0"/>
          </a:p>
        </p:txBody>
      </p:sp>
      <p:sp>
        <p:nvSpPr>
          <p:cNvPr id="28" name="Shape 22"/>
          <p:cNvSpPr/>
          <p:nvPr/>
        </p:nvSpPr>
        <p:spPr>
          <a:xfrm>
            <a:off x="4337304" y="3840480"/>
            <a:ext cx="3514344" cy="2103120"/>
          </a:xfrm>
          <a:prstGeom prst="roundRect">
            <a:avLst>
              <a:gd name="adj" fmla="val 5217"/>
            </a:avLst>
          </a:prstGeom>
          <a:solidFill>
            <a:srgbClr val="EAF3FB"/>
          </a:solidFill>
          <a:ln/>
          <a:effectLst>
            <a:outerShdw blurRad="101600" dist="25400" dir="5400000" algn="bl" rotWithShape="0">
              <a:srgbClr val="8090A0">
                <a:alpha val="18000"/>
              </a:srgbClr>
            </a:outerShdw>
          </a:effectLst>
        </p:spPr>
      </p:sp>
      <p:sp>
        <p:nvSpPr>
          <p:cNvPr id="29" name="Shape 23"/>
          <p:cNvSpPr/>
          <p:nvPr/>
        </p:nvSpPr>
        <p:spPr>
          <a:xfrm>
            <a:off x="4538472" y="4041648"/>
            <a:ext cx="566928" cy="566928"/>
          </a:xfrm>
          <a:prstGeom prst="ellipse">
            <a:avLst/>
          </a:prstGeom>
          <a:solidFill>
            <a:srgbClr val="1B6FA8"/>
          </a:solidFill>
          <a:ln/>
          <a:effectLst>
            <a:outerShdw blurRad="76200" dist="25400" dir="5400000" algn="bl" rotWithShape="0">
              <a:srgbClr val="808080">
                <a:alpha val="25000"/>
              </a:srgbClr>
            </a:outerShdw>
          </a:effectLst>
        </p:spPr>
      </p:sp>
      <p:pic>
        <p:nvPicPr>
          <p:cNvPr id="30" name="Image 4" descr="/home/claude/dm_ppt/assets/icons/career_exec.png"/>
          <p:cNvPicPr>
            <a:picLocks noChangeAspect="1"/>
          </p:cNvPicPr>
          <p:nvPr/>
        </p:nvPicPr>
        <p:blipFill>
          <a:blip r:embed="rId7"/>
          <a:stretch>
            <a:fillRect/>
          </a:stretch>
        </p:blipFill>
        <p:spPr>
          <a:xfrm>
            <a:off x="4666031" y="4169207"/>
            <a:ext cx="311810" cy="311810"/>
          </a:xfrm>
          <a:prstGeom prst="rect">
            <a:avLst/>
          </a:prstGeom>
        </p:spPr>
      </p:pic>
      <p:sp>
        <p:nvSpPr>
          <p:cNvPr id="31" name="Text 24"/>
          <p:cNvSpPr/>
          <p:nvPr/>
        </p:nvSpPr>
        <p:spPr>
          <a:xfrm>
            <a:off x="4538472" y="4663440"/>
            <a:ext cx="3112008" cy="310896"/>
          </a:xfrm>
          <a:prstGeom prst="rect">
            <a:avLst/>
          </a:prstGeom>
          <a:noFill/>
          <a:ln/>
        </p:spPr>
        <p:txBody>
          <a:bodyPr wrap="square" lIns="0" tIns="0" rIns="0" bIns="0" rtlCol="0" anchor="ctr"/>
          <a:lstStyle/>
          <a:p>
            <a:pPr marL="0" indent="0" algn="l">
              <a:buNone/>
            </a:pPr>
            <a:r>
              <a:rPr lang="en-US" sz="1400" b="1" dirty="0">
                <a:solidFill>
                  <a:srgbClr val="1B2430"/>
                </a:solidFill>
                <a:latin typeface="Calibri" pitchFamily="34" charset="0"/>
                <a:ea typeface="Calibri" pitchFamily="34" charset="-122"/>
                <a:cs typeface="Calibri" pitchFamily="34" charset="-120"/>
              </a:rPr>
              <a:t>Digital Marketing Executive</a:t>
            </a:r>
            <a:endParaRPr lang="en-US" sz="1400" dirty="0"/>
          </a:p>
        </p:txBody>
      </p:sp>
      <p:sp>
        <p:nvSpPr>
          <p:cNvPr id="32" name="Shape 25"/>
          <p:cNvSpPr/>
          <p:nvPr/>
        </p:nvSpPr>
        <p:spPr>
          <a:xfrm>
            <a:off x="4538472" y="5486400"/>
            <a:ext cx="1371600" cy="292608"/>
          </a:xfrm>
          <a:prstGeom prst="roundRect">
            <a:avLst>
              <a:gd name="adj" fmla="val 50000"/>
            </a:avLst>
          </a:prstGeom>
          <a:solidFill>
            <a:srgbClr val="F5A623"/>
          </a:solidFill>
          <a:ln/>
        </p:spPr>
      </p:sp>
      <p:sp>
        <p:nvSpPr>
          <p:cNvPr id="33" name="Text 26"/>
          <p:cNvSpPr/>
          <p:nvPr/>
        </p:nvSpPr>
        <p:spPr>
          <a:xfrm>
            <a:off x="4538472" y="5486400"/>
            <a:ext cx="137160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Entry Friendly</a:t>
            </a:r>
            <a:endParaRPr lang="en-US" sz="1000" dirty="0"/>
          </a:p>
        </p:txBody>
      </p:sp>
      <p:sp>
        <p:nvSpPr>
          <p:cNvPr id="34" name="Shape 27"/>
          <p:cNvSpPr/>
          <p:nvPr/>
        </p:nvSpPr>
        <p:spPr>
          <a:xfrm>
            <a:off x="8125968" y="3840480"/>
            <a:ext cx="3514344" cy="2103120"/>
          </a:xfrm>
          <a:prstGeom prst="roundRect">
            <a:avLst>
              <a:gd name="adj" fmla="val 5217"/>
            </a:avLst>
          </a:prstGeom>
          <a:solidFill>
            <a:srgbClr val="EAF3FB"/>
          </a:solidFill>
          <a:ln/>
          <a:effectLst>
            <a:outerShdw blurRad="101600" dist="25400" dir="5400000" algn="bl" rotWithShape="0">
              <a:srgbClr val="8090A0">
                <a:alpha val="18000"/>
              </a:srgbClr>
            </a:outerShdw>
          </a:effectLst>
        </p:spPr>
      </p:sp>
      <p:sp>
        <p:nvSpPr>
          <p:cNvPr id="35" name="Shape 28"/>
          <p:cNvSpPr/>
          <p:nvPr/>
        </p:nvSpPr>
        <p:spPr>
          <a:xfrm>
            <a:off x="8327136" y="4041648"/>
            <a:ext cx="566928" cy="566928"/>
          </a:xfrm>
          <a:prstGeom prst="ellipse">
            <a:avLst/>
          </a:prstGeom>
          <a:solidFill>
            <a:srgbClr val="12395B"/>
          </a:solidFill>
          <a:ln/>
          <a:effectLst>
            <a:outerShdw blurRad="76200" dist="25400" dir="5400000" algn="bl" rotWithShape="0">
              <a:srgbClr val="808080">
                <a:alpha val="25000"/>
              </a:srgbClr>
            </a:outerShdw>
          </a:effectLst>
        </p:spPr>
      </p:sp>
      <p:pic>
        <p:nvPicPr>
          <p:cNvPr id="36" name="Image 5" descr="/home/claude/dm_ppt/assets/icons/career_freelance.png"/>
          <p:cNvPicPr>
            <a:picLocks noChangeAspect="1"/>
          </p:cNvPicPr>
          <p:nvPr/>
        </p:nvPicPr>
        <p:blipFill>
          <a:blip r:embed="rId8"/>
          <a:stretch>
            <a:fillRect/>
          </a:stretch>
        </p:blipFill>
        <p:spPr>
          <a:xfrm>
            <a:off x="8454695" y="4169207"/>
            <a:ext cx="311810" cy="311810"/>
          </a:xfrm>
          <a:prstGeom prst="rect">
            <a:avLst/>
          </a:prstGeom>
        </p:spPr>
      </p:pic>
      <p:sp>
        <p:nvSpPr>
          <p:cNvPr id="37" name="Text 29"/>
          <p:cNvSpPr/>
          <p:nvPr/>
        </p:nvSpPr>
        <p:spPr>
          <a:xfrm>
            <a:off x="8327136" y="4663440"/>
            <a:ext cx="3112008" cy="310896"/>
          </a:xfrm>
          <a:prstGeom prst="rect">
            <a:avLst/>
          </a:prstGeom>
          <a:noFill/>
          <a:ln/>
        </p:spPr>
        <p:txBody>
          <a:bodyPr wrap="square" lIns="0" tIns="0" rIns="0" bIns="0" rtlCol="0" anchor="ctr"/>
          <a:lstStyle/>
          <a:p>
            <a:pPr marL="0" indent="0" algn="l">
              <a:buNone/>
            </a:pPr>
            <a:r>
              <a:rPr lang="en-US" sz="1400" b="1" dirty="0">
                <a:solidFill>
                  <a:srgbClr val="1B2430"/>
                </a:solidFill>
                <a:latin typeface="Calibri" pitchFamily="34" charset="0"/>
                <a:ea typeface="Calibri" pitchFamily="34" charset="-122"/>
                <a:cs typeface="Calibri" pitchFamily="34" charset="-120"/>
              </a:rPr>
              <a:t>Freelancer</a:t>
            </a:r>
            <a:endParaRPr lang="en-US" sz="1400" dirty="0"/>
          </a:p>
        </p:txBody>
      </p:sp>
      <p:sp>
        <p:nvSpPr>
          <p:cNvPr id="38" name="Shape 30"/>
          <p:cNvSpPr/>
          <p:nvPr/>
        </p:nvSpPr>
        <p:spPr>
          <a:xfrm>
            <a:off x="8327136" y="5486400"/>
            <a:ext cx="1371600" cy="292608"/>
          </a:xfrm>
          <a:prstGeom prst="roundRect">
            <a:avLst>
              <a:gd name="adj" fmla="val 50000"/>
            </a:avLst>
          </a:prstGeom>
          <a:solidFill>
            <a:srgbClr val="F5A623"/>
          </a:solidFill>
          <a:ln/>
        </p:spPr>
      </p:sp>
      <p:sp>
        <p:nvSpPr>
          <p:cNvPr id="39" name="Text 31"/>
          <p:cNvSpPr/>
          <p:nvPr/>
        </p:nvSpPr>
        <p:spPr>
          <a:xfrm>
            <a:off x="8327136" y="5486400"/>
            <a:ext cx="137160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Flexible Income</a:t>
            </a:r>
            <a:endParaRPr lang="en-US" sz="1000" dirty="0"/>
          </a:p>
        </p:txBody>
      </p:sp>
      <p:sp>
        <p:nvSpPr>
          <p:cNvPr id="40" name="Text 32"/>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J.B.S.P. Sanstha's College, Panvel</a:t>
            </a:r>
            <a:endParaRPr lang="en-US" sz="900" dirty="0"/>
          </a:p>
        </p:txBody>
      </p:sp>
      <p:sp>
        <p:nvSpPr>
          <p:cNvPr id="41" name="Text 33"/>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10</a:t>
            </a:r>
            <a:endParaRPr lang="en-US" sz="900" dirty="0"/>
          </a:p>
        </p:txBody>
      </p:sp>
    </p:spTree>
  </p:cSld>
  <p:clrMapOvr>
    <a:masterClrMapping/>
  </p:clrMapOvr>
  <p:transition>
    <p:cover dir="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685800"/>
          </a:xfrm>
          <a:prstGeom prst="rect">
            <a:avLst/>
          </a:prstGeom>
          <a:noFill/>
          <a:ln/>
        </p:spPr>
        <p:txBody>
          <a:bodyPr wrap="square" rtlCol="0" anchor="ctr"/>
          <a:lstStyle/>
          <a:p>
            <a:pPr marL="0" indent="0" algn="l">
              <a:buNone/>
            </a:pPr>
            <a:r>
              <a:rPr lang="en-US" sz="3200" b="1" dirty="0">
                <a:solidFill>
                  <a:srgbClr val="12395B"/>
                </a:solidFill>
                <a:latin typeface="Cambria" pitchFamily="34" charset="0"/>
                <a:ea typeface="Cambria" pitchFamily="34" charset="-122"/>
                <a:cs typeface="Cambria" pitchFamily="34" charset="-120"/>
              </a:rPr>
              <a:t>Summary</a:t>
            </a:r>
            <a:endParaRPr lang="en-US" sz="3200" dirty="0"/>
          </a:p>
        </p:txBody>
      </p:sp>
      <p:sp>
        <p:nvSpPr>
          <p:cNvPr id="3" name="Shape 1"/>
          <p:cNvSpPr/>
          <p:nvPr/>
        </p:nvSpPr>
        <p:spPr>
          <a:xfrm>
            <a:off x="0" y="1170432"/>
            <a:ext cx="12188952" cy="18288"/>
          </a:xfrm>
          <a:prstGeom prst="rect">
            <a:avLst/>
          </a:prstGeom>
          <a:solidFill>
            <a:srgbClr val="E3E9EF"/>
          </a:solidFill>
          <a:ln/>
        </p:spPr>
      </p:sp>
      <p:sp>
        <p:nvSpPr>
          <p:cNvPr id="4" name="Shape 2"/>
          <p:cNvSpPr/>
          <p:nvPr/>
        </p:nvSpPr>
        <p:spPr>
          <a:xfrm>
            <a:off x="548640" y="1600200"/>
            <a:ext cx="2580894" cy="3566160"/>
          </a:xfrm>
          <a:prstGeom prst="roundRect">
            <a:avLst>
              <a:gd name="adj" fmla="val 4252"/>
            </a:avLst>
          </a:prstGeom>
          <a:solidFill>
            <a:srgbClr val="EAF3FB"/>
          </a:solidFill>
          <a:ln/>
          <a:effectLst>
            <a:outerShdw blurRad="101600" dist="25400" dir="5400000" algn="bl" rotWithShape="0">
              <a:srgbClr val="8090A0">
                <a:alpha val="16000"/>
              </a:srgbClr>
            </a:outerShdw>
          </a:effectLst>
        </p:spPr>
      </p:sp>
      <p:sp>
        <p:nvSpPr>
          <p:cNvPr id="5" name="Shape 3"/>
          <p:cNvSpPr/>
          <p:nvPr/>
        </p:nvSpPr>
        <p:spPr>
          <a:xfrm>
            <a:off x="1496187" y="1874520"/>
            <a:ext cx="685800" cy="685800"/>
          </a:xfrm>
          <a:prstGeom prst="ellipse">
            <a:avLst/>
          </a:prstGeom>
          <a:solidFill>
            <a:srgbClr val="1B6FA8"/>
          </a:solidFill>
          <a:ln/>
          <a:effectLst>
            <a:outerShdw blurRad="76200" dist="25400" dir="5400000" algn="bl" rotWithShape="0">
              <a:srgbClr val="808080">
                <a:alpha val="25000"/>
              </a:srgbClr>
            </a:outerShdw>
          </a:effectLst>
        </p:spPr>
      </p:sp>
      <p:pic>
        <p:nvPicPr>
          <p:cNvPr id="6" name="Image 0" descr="/home/claude/dm_ppt/assets/icons/idea.png"/>
          <p:cNvPicPr>
            <a:picLocks noChangeAspect="1"/>
          </p:cNvPicPr>
          <p:nvPr/>
        </p:nvPicPr>
        <p:blipFill>
          <a:blip r:embed="rId3"/>
          <a:stretch>
            <a:fillRect/>
          </a:stretch>
        </p:blipFill>
        <p:spPr>
          <a:xfrm>
            <a:off x="1650492" y="2028825"/>
            <a:ext cx="377190" cy="377190"/>
          </a:xfrm>
          <a:prstGeom prst="rect">
            <a:avLst/>
          </a:prstGeom>
        </p:spPr>
      </p:pic>
      <p:sp>
        <p:nvSpPr>
          <p:cNvPr id="7" name="Text 4"/>
          <p:cNvSpPr/>
          <p:nvPr/>
        </p:nvSpPr>
        <p:spPr>
          <a:xfrm>
            <a:off x="685800" y="2697480"/>
            <a:ext cx="2306574" cy="365760"/>
          </a:xfrm>
          <a:prstGeom prst="rect">
            <a:avLst/>
          </a:prstGeom>
          <a:noFill/>
          <a:ln/>
        </p:spPr>
        <p:txBody>
          <a:bodyPr wrap="square" rtlCol="0" anchor="ctr"/>
          <a:lstStyle/>
          <a:p>
            <a:pPr marL="0" indent="0" algn="ctr">
              <a:buNone/>
            </a:pPr>
            <a:r>
              <a:rPr lang="en-US" sz="1400" b="1" dirty="0">
                <a:solidFill>
                  <a:srgbClr val="1B2430"/>
                </a:solidFill>
                <a:latin typeface="Calibri" pitchFamily="34" charset="0"/>
                <a:ea typeface="Calibri" pitchFamily="34" charset="-122"/>
                <a:cs typeface="Calibri" pitchFamily="34" charset="-120"/>
              </a:rPr>
              <a:t>What It Is</a:t>
            </a:r>
            <a:endParaRPr lang="en-US" sz="1400" dirty="0"/>
          </a:p>
        </p:txBody>
      </p:sp>
      <p:sp>
        <p:nvSpPr>
          <p:cNvPr id="8" name="Text 5"/>
          <p:cNvSpPr/>
          <p:nvPr/>
        </p:nvSpPr>
        <p:spPr>
          <a:xfrm>
            <a:off x="731520" y="3108960"/>
            <a:ext cx="2215134" cy="1874520"/>
          </a:xfrm>
          <a:prstGeom prst="rect">
            <a:avLst/>
          </a:prstGeom>
          <a:noFill/>
          <a:ln/>
        </p:spPr>
        <p:txBody>
          <a:bodyPr wrap="square" rtlCol="0" anchor="t"/>
          <a:lstStyle/>
          <a:p>
            <a:pPr marL="0" indent="0" algn="ctr">
              <a:buNone/>
            </a:pPr>
            <a:r>
              <a:rPr lang="en-US" sz="1150" dirty="0">
                <a:solidFill>
                  <a:srgbClr val="5B6B79"/>
                </a:solidFill>
                <a:latin typeface="Calibri" pitchFamily="34" charset="0"/>
                <a:ea typeface="Calibri" pitchFamily="34" charset="-122"/>
                <a:cs typeface="Calibri" pitchFamily="34" charset="-120"/>
              </a:rPr>
              <a:t>Marketing done through the internet</a:t>
            </a:r>
            <a:endParaRPr lang="en-US" sz="1150" dirty="0"/>
          </a:p>
        </p:txBody>
      </p:sp>
      <p:sp>
        <p:nvSpPr>
          <p:cNvPr id="9" name="Shape 6"/>
          <p:cNvSpPr/>
          <p:nvPr/>
        </p:nvSpPr>
        <p:spPr>
          <a:xfrm>
            <a:off x="3385566" y="1600200"/>
            <a:ext cx="2580894" cy="3566160"/>
          </a:xfrm>
          <a:prstGeom prst="roundRect">
            <a:avLst>
              <a:gd name="adj" fmla="val 4252"/>
            </a:avLst>
          </a:prstGeom>
          <a:solidFill>
            <a:srgbClr val="FDECD1"/>
          </a:solidFill>
          <a:ln/>
          <a:effectLst>
            <a:outerShdw blurRad="101600" dist="25400" dir="5400000" algn="bl" rotWithShape="0">
              <a:srgbClr val="8090A0">
                <a:alpha val="16000"/>
              </a:srgbClr>
            </a:outerShdw>
          </a:effectLst>
        </p:spPr>
      </p:sp>
      <p:sp>
        <p:nvSpPr>
          <p:cNvPr id="10" name="Shape 7"/>
          <p:cNvSpPr/>
          <p:nvPr/>
        </p:nvSpPr>
        <p:spPr>
          <a:xfrm>
            <a:off x="4333113" y="1874520"/>
            <a:ext cx="685800" cy="685800"/>
          </a:xfrm>
          <a:prstGeom prst="ellipse">
            <a:avLst/>
          </a:prstGeom>
          <a:solidFill>
            <a:srgbClr val="F5A623"/>
          </a:solidFill>
          <a:ln/>
          <a:effectLst>
            <a:outerShdw blurRad="76200" dist="25400" dir="5400000" algn="bl" rotWithShape="0">
              <a:srgbClr val="808080">
                <a:alpha val="25000"/>
              </a:srgbClr>
            </a:outerShdw>
          </a:effectLst>
        </p:spPr>
      </p:sp>
      <p:pic>
        <p:nvPicPr>
          <p:cNvPr id="11" name="Image 1" descr="/home/claude/dm_ppt/assets/icons/seo.png"/>
          <p:cNvPicPr>
            <a:picLocks noChangeAspect="1"/>
          </p:cNvPicPr>
          <p:nvPr/>
        </p:nvPicPr>
        <p:blipFill>
          <a:blip r:embed="rId4"/>
          <a:stretch>
            <a:fillRect/>
          </a:stretch>
        </p:blipFill>
        <p:spPr>
          <a:xfrm>
            <a:off x="4487418" y="2028825"/>
            <a:ext cx="377190" cy="377190"/>
          </a:xfrm>
          <a:prstGeom prst="rect">
            <a:avLst/>
          </a:prstGeom>
        </p:spPr>
      </p:pic>
      <p:sp>
        <p:nvSpPr>
          <p:cNvPr id="12" name="Text 8"/>
          <p:cNvSpPr/>
          <p:nvPr/>
        </p:nvSpPr>
        <p:spPr>
          <a:xfrm>
            <a:off x="3522726" y="2697480"/>
            <a:ext cx="2306574" cy="365760"/>
          </a:xfrm>
          <a:prstGeom prst="rect">
            <a:avLst/>
          </a:prstGeom>
          <a:noFill/>
          <a:ln/>
        </p:spPr>
        <p:txBody>
          <a:bodyPr wrap="square" rtlCol="0" anchor="ctr"/>
          <a:lstStyle/>
          <a:p>
            <a:pPr marL="0" indent="0" algn="ctr">
              <a:buNone/>
            </a:pPr>
            <a:r>
              <a:rPr lang="en-US" sz="1400" b="1" dirty="0">
                <a:solidFill>
                  <a:srgbClr val="1B2430"/>
                </a:solidFill>
                <a:latin typeface="Calibri" pitchFamily="34" charset="0"/>
                <a:ea typeface="Calibri" pitchFamily="34" charset="-122"/>
                <a:cs typeface="Calibri" pitchFamily="34" charset="-120"/>
              </a:rPr>
              <a:t>Types</a:t>
            </a:r>
            <a:endParaRPr lang="en-US" sz="1400" dirty="0"/>
          </a:p>
        </p:txBody>
      </p:sp>
      <p:sp>
        <p:nvSpPr>
          <p:cNvPr id="13" name="Text 9"/>
          <p:cNvSpPr/>
          <p:nvPr/>
        </p:nvSpPr>
        <p:spPr>
          <a:xfrm>
            <a:off x="3568446" y="3108960"/>
            <a:ext cx="2215134" cy="1874520"/>
          </a:xfrm>
          <a:prstGeom prst="rect">
            <a:avLst/>
          </a:prstGeom>
          <a:noFill/>
          <a:ln/>
        </p:spPr>
        <p:txBody>
          <a:bodyPr wrap="square" rtlCol="0" anchor="t"/>
          <a:lstStyle/>
          <a:p>
            <a:pPr marL="0" indent="0" algn="ctr">
              <a:buNone/>
            </a:pPr>
            <a:r>
              <a:rPr lang="en-US" sz="1150" dirty="0">
                <a:solidFill>
                  <a:srgbClr val="5B6B79"/>
                </a:solidFill>
                <a:latin typeface="Calibri" pitchFamily="34" charset="0"/>
                <a:ea typeface="Calibri" pitchFamily="34" charset="-122"/>
                <a:cs typeface="Calibri" pitchFamily="34" charset="-120"/>
              </a:rPr>
              <a:t>SEO, social, email, content, PPC, affiliate</a:t>
            </a:r>
            <a:endParaRPr lang="en-US" sz="1150" dirty="0"/>
          </a:p>
        </p:txBody>
      </p:sp>
      <p:sp>
        <p:nvSpPr>
          <p:cNvPr id="14" name="Shape 10"/>
          <p:cNvSpPr/>
          <p:nvPr/>
        </p:nvSpPr>
        <p:spPr>
          <a:xfrm>
            <a:off x="6222492" y="1600200"/>
            <a:ext cx="2580894" cy="3566160"/>
          </a:xfrm>
          <a:prstGeom prst="roundRect">
            <a:avLst>
              <a:gd name="adj" fmla="val 4252"/>
            </a:avLst>
          </a:prstGeom>
          <a:solidFill>
            <a:srgbClr val="EAF3FB"/>
          </a:solidFill>
          <a:ln/>
          <a:effectLst>
            <a:outerShdw blurRad="101600" dist="25400" dir="5400000" algn="bl" rotWithShape="0">
              <a:srgbClr val="8090A0">
                <a:alpha val="16000"/>
              </a:srgbClr>
            </a:outerShdw>
          </a:effectLst>
        </p:spPr>
      </p:sp>
      <p:sp>
        <p:nvSpPr>
          <p:cNvPr id="15" name="Shape 11"/>
          <p:cNvSpPr/>
          <p:nvPr/>
        </p:nvSpPr>
        <p:spPr>
          <a:xfrm>
            <a:off x="7170039" y="1874520"/>
            <a:ext cx="685800" cy="685800"/>
          </a:xfrm>
          <a:prstGeom prst="ellipse">
            <a:avLst/>
          </a:prstGeom>
          <a:solidFill>
            <a:srgbClr val="1B6FA8"/>
          </a:solidFill>
          <a:ln/>
          <a:effectLst>
            <a:outerShdw blurRad="76200" dist="25400" dir="5400000" algn="bl" rotWithShape="0">
              <a:srgbClr val="808080">
                <a:alpha val="25000"/>
              </a:srgbClr>
            </a:outerShdw>
          </a:effectLst>
        </p:spPr>
      </p:sp>
      <p:pic>
        <p:nvPicPr>
          <p:cNvPr id="16" name="Image 2" descr="/home/claude/dm_ppt/assets/icons/measurable.png"/>
          <p:cNvPicPr>
            <a:picLocks noChangeAspect="1"/>
          </p:cNvPicPr>
          <p:nvPr/>
        </p:nvPicPr>
        <p:blipFill>
          <a:blip r:embed="rId5"/>
          <a:stretch>
            <a:fillRect/>
          </a:stretch>
        </p:blipFill>
        <p:spPr>
          <a:xfrm>
            <a:off x="7324344" y="2028825"/>
            <a:ext cx="377190" cy="377190"/>
          </a:xfrm>
          <a:prstGeom prst="rect">
            <a:avLst/>
          </a:prstGeom>
        </p:spPr>
      </p:pic>
      <p:sp>
        <p:nvSpPr>
          <p:cNvPr id="17" name="Text 12"/>
          <p:cNvSpPr/>
          <p:nvPr/>
        </p:nvSpPr>
        <p:spPr>
          <a:xfrm>
            <a:off x="6359652" y="2697480"/>
            <a:ext cx="2306574" cy="365760"/>
          </a:xfrm>
          <a:prstGeom prst="rect">
            <a:avLst/>
          </a:prstGeom>
          <a:noFill/>
          <a:ln/>
        </p:spPr>
        <p:txBody>
          <a:bodyPr wrap="square" rtlCol="0" anchor="ctr"/>
          <a:lstStyle/>
          <a:p>
            <a:pPr marL="0" indent="0" algn="ctr">
              <a:buNone/>
            </a:pPr>
            <a:r>
              <a:rPr lang="en-US" sz="1400" b="1" dirty="0">
                <a:solidFill>
                  <a:srgbClr val="1B2430"/>
                </a:solidFill>
                <a:latin typeface="Calibri" pitchFamily="34" charset="0"/>
                <a:ea typeface="Calibri" pitchFamily="34" charset="-122"/>
                <a:cs typeface="Calibri" pitchFamily="34" charset="-120"/>
              </a:rPr>
              <a:t>Benefits</a:t>
            </a:r>
            <a:endParaRPr lang="en-US" sz="1400" dirty="0"/>
          </a:p>
        </p:txBody>
      </p:sp>
      <p:sp>
        <p:nvSpPr>
          <p:cNvPr id="18" name="Text 13"/>
          <p:cNvSpPr/>
          <p:nvPr/>
        </p:nvSpPr>
        <p:spPr>
          <a:xfrm>
            <a:off x="6405372" y="3108960"/>
            <a:ext cx="2215134" cy="1874520"/>
          </a:xfrm>
          <a:prstGeom prst="rect">
            <a:avLst/>
          </a:prstGeom>
          <a:noFill/>
          <a:ln/>
        </p:spPr>
        <p:txBody>
          <a:bodyPr wrap="square" rtlCol="0" anchor="t"/>
          <a:lstStyle/>
          <a:p>
            <a:pPr marL="0" indent="0" algn="ctr">
              <a:buNone/>
            </a:pPr>
            <a:r>
              <a:rPr lang="en-US" sz="1150" dirty="0">
                <a:solidFill>
                  <a:srgbClr val="5B6B79"/>
                </a:solidFill>
                <a:latin typeface="Calibri" pitchFamily="34" charset="0"/>
                <a:ea typeface="Calibri" pitchFamily="34" charset="-122"/>
                <a:cs typeface="Calibri" pitchFamily="34" charset="-120"/>
              </a:rPr>
              <a:t>Low cost, wide reach, measurable results</a:t>
            </a:r>
            <a:endParaRPr lang="en-US" sz="1150" dirty="0"/>
          </a:p>
        </p:txBody>
      </p:sp>
      <p:sp>
        <p:nvSpPr>
          <p:cNvPr id="19" name="Shape 14"/>
          <p:cNvSpPr/>
          <p:nvPr/>
        </p:nvSpPr>
        <p:spPr>
          <a:xfrm>
            <a:off x="9059418" y="1600200"/>
            <a:ext cx="2580894" cy="3566160"/>
          </a:xfrm>
          <a:prstGeom prst="roundRect">
            <a:avLst>
              <a:gd name="adj" fmla="val 4252"/>
            </a:avLst>
          </a:prstGeom>
          <a:solidFill>
            <a:srgbClr val="FDECD1"/>
          </a:solidFill>
          <a:ln/>
          <a:effectLst>
            <a:outerShdw blurRad="101600" dist="25400" dir="5400000" algn="bl" rotWithShape="0">
              <a:srgbClr val="8090A0">
                <a:alpha val="16000"/>
              </a:srgbClr>
            </a:outerShdw>
          </a:effectLst>
        </p:spPr>
      </p:sp>
      <p:sp>
        <p:nvSpPr>
          <p:cNvPr id="20" name="Shape 15"/>
          <p:cNvSpPr/>
          <p:nvPr/>
        </p:nvSpPr>
        <p:spPr>
          <a:xfrm>
            <a:off x="10006965" y="1874520"/>
            <a:ext cx="685800" cy="685800"/>
          </a:xfrm>
          <a:prstGeom prst="ellipse">
            <a:avLst/>
          </a:prstGeom>
          <a:solidFill>
            <a:srgbClr val="F5A623"/>
          </a:solidFill>
          <a:ln/>
          <a:effectLst>
            <a:outerShdw blurRad="76200" dist="25400" dir="5400000" algn="bl" rotWithShape="0">
              <a:srgbClr val="808080">
                <a:alpha val="25000"/>
              </a:srgbClr>
            </a:outerShdw>
          </a:effectLst>
        </p:spPr>
      </p:sp>
      <p:pic>
        <p:nvPicPr>
          <p:cNvPr id="21" name="Image 3" descr="/home/claude/dm_ppt/assets/icons/ai.png"/>
          <p:cNvPicPr>
            <a:picLocks noChangeAspect="1"/>
          </p:cNvPicPr>
          <p:nvPr/>
        </p:nvPicPr>
        <p:blipFill>
          <a:blip r:embed="rId6"/>
          <a:stretch>
            <a:fillRect/>
          </a:stretch>
        </p:blipFill>
        <p:spPr>
          <a:xfrm>
            <a:off x="10161270" y="2028825"/>
            <a:ext cx="377190" cy="377190"/>
          </a:xfrm>
          <a:prstGeom prst="rect">
            <a:avLst/>
          </a:prstGeom>
        </p:spPr>
      </p:pic>
      <p:sp>
        <p:nvSpPr>
          <p:cNvPr id="22" name="Text 16"/>
          <p:cNvSpPr/>
          <p:nvPr/>
        </p:nvSpPr>
        <p:spPr>
          <a:xfrm>
            <a:off x="9196578" y="2697480"/>
            <a:ext cx="2306574" cy="365760"/>
          </a:xfrm>
          <a:prstGeom prst="rect">
            <a:avLst/>
          </a:prstGeom>
          <a:noFill/>
          <a:ln/>
        </p:spPr>
        <p:txBody>
          <a:bodyPr wrap="square" rtlCol="0" anchor="ctr"/>
          <a:lstStyle/>
          <a:p>
            <a:pPr marL="0" indent="0" algn="ctr">
              <a:buNone/>
            </a:pPr>
            <a:r>
              <a:rPr lang="en-US" sz="1400" b="1" dirty="0">
                <a:solidFill>
                  <a:srgbClr val="1B2430"/>
                </a:solidFill>
                <a:latin typeface="Calibri" pitchFamily="34" charset="0"/>
                <a:ea typeface="Calibri" pitchFamily="34" charset="-122"/>
                <a:cs typeface="Calibri" pitchFamily="34" charset="-120"/>
              </a:rPr>
              <a:t>Future</a:t>
            </a:r>
            <a:endParaRPr lang="en-US" sz="1400" dirty="0"/>
          </a:p>
        </p:txBody>
      </p:sp>
      <p:sp>
        <p:nvSpPr>
          <p:cNvPr id="23" name="Text 17"/>
          <p:cNvSpPr/>
          <p:nvPr/>
        </p:nvSpPr>
        <p:spPr>
          <a:xfrm>
            <a:off x="9242298" y="3108960"/>
            <a:ext cx="2215134" cy="1874520"/>
          </a:xfrm>
          <a:prstGeom prst="rect">
            <a:avLst/>
          </a:prstGeom>
          <a:noFill/>
          <a:ln/>
        </p:spPr>
        <p:txBody>
          <a:bodyPr wrap="square" rtlCol="0" anchor="t"/>
          <a:lstStyle/>
          <a:p>
            <a:pPr marL="0" indent="0" algn="ctr">
              <a:buNone/>
            </a:pPr>
            <a:r>
              <a:rPr lang="en-US" sz="1150" dirty="0">
                <a:solidFill>
                  <a:srgbClr val="5B6B79"/>
                </a:solidFill>
                <a:latin typeface="Calibri" pitchFamily="34" charset="0"/>
                <a:ea typeface="Calibri" pitchFamily="34" charset="-122"/>
                <a:cs typeface="Calibri" pitchFamily="34" charset="-120"/>
              </a:rPr>
              <a:t>AI, automation, and personalized marketing</a:t>
            </a:r>
            <a:endParaRPr lang="en-US" sz="1150" dirty="0"/>
          </a:p>
        </p:txBody>
      </p:sp>
      <p:sp>
        <p:nvSpPr>
          <p:cNvPr id="24" name="Text 18"/>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B6B79"/>
                </a:solidFill>
                <a:latin typeface="Calibri" pitchFamily="34" charset="0"/>
                <a:ea typeface="Calibri" pitchFamily="34" charset="-122"/>
                <a:cs typeface="Calibri" pitchFamily="34" charset="-120"/>
              </a:rPr>
              <a:t>J.B.S.P. Sanstha's College, Panvel</a:t>
            </a:r>
            <a:endParaRPr lang="en-US" sz="900" dirty="0"/>
          </a:p>
        </p:txBody>
      </p:sp>
      <p:sp>
        <p:nvSpPr>
          <p:cNvPr id="25" name="Text 19"/>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11</a:t>
            </a:r>
            <a:endParaRPr lang="en-US" sz="900" dirty="0"/>
          </a:p>
        </p:txBody>
      </p:sp>
    </p:spTree>
  </p:cSld>
  <p:clrMapOvr>
    <a:masterClrMapping/>
  </p:clrMapOvr>
  <p:transition>
    <p:cover dir="r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395B"/>
        </a:solidFill>
        <a:effectLst/>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1B6FA8"/>
          </a:solidFill>
          <a:ln/>
        </p:spPr>
      </p:sp>
      <p:sp>
        <p:nvSpPr>
          <p:cNvPr id="3" name="Shape 1"/>
          <p:cNvSpPr/>
          <p:nvPr/>
        </p:nvSpPr>
        <p:spPr>
          <a:xfrm>
            <a:off x="-1463040" y="4846320"/>
            <a:ext cx="3474720" cy="3474720"/>
          </a:xfrm>
          <a:prstGeom prst="ellipse">
            <a:avLst/>
          </a:prstGeom>
          <a:solidFill>
            <a:srgbClr val="1B6FA8"/>
          </a:solidFill>
          <a:ln/>
        </p:spPr>
      </p:sp>
      <p:sp>
        <p:nvSpPr>
          <p:cNvPr id="4" name="Shape 2"/>
          <p:cNvSpPr/>
          <p:nvPr/>
        </p:nvSpPr>
        <p:spPr>
          <a:xfrm>
            <a:off x="5486400" y="5394960"/>
            <a:ext cx="1463040" cy="1463040"/>
          </a:xfrm>
          <a:prstGeom prst="ellipse">
            <a:avLst/>
          </a:prstGeom>
          <a:solidFill>
            <a:srgbClr val="F5A623"/>
          </a:solidFill>
          <a:ln/>
        </p:spPr>
      </p:sp>
      <p:pic>
        <p:nvPicPr>
          <p:cNvPr id="5" name="Image 0" descr="/home/claude/dm_ppt/assets/logo_rgba.png"/>
          <p:cNvPicPr>
            <a:picLocks noChangeAspect="1"/>
          </p:cNvPicPr>
          <p:nvPr/>
        </p:nvPicPr>
        <p:blipFill>
          <a:blip r:embed="rId3"/>
          <a:stretch>
            <a:fillRect/>
          </a:stretch>
        </p:blipFill>
        <p:spPr>
          <a:xfrm>
            <a:off x="5545836" y="640080"/>
            <a:ext cx="1097280" cy="805393"/>
          </a:xfrm>
          <a:prstGeom prst="rect">
            <a:avLst/>
          </a:prstGeom>
        </p:spPr>
      </p:pic>
      <p:sp>
        <p:nvSpPr>
          <p:cNvPr id="6" name="Text 3"/>
          <p:cNvSpPr/>
          <p:nvPr/>
        </p:nvSpPr>
        <p:spPr>
          <a:xfrm>
            <a:off x="731520" y="2286000"/>
            <a:ext cx="10725912" cy="1005840"/>
          </a:xfrm>
          <a:prstGeom prst="rect">
            <a:avLst/>
          </a:prstGeom>
          <a:noFill/>
          <a:ln/>
        </p:spPr>
        <p:txBody>
          <a:bodyPr wrap="square" rtlCol="0" anchor="ctr"/>
          <a:lstStyle/>
          <a:p>
            <a:pPr marL="0" indent="0" algn="ctr">
              <a:buNone/>
            </a:pPr>
            <a:r>
              <a:rPr lang="en-US" sz="5000" b="1" dirty="0">
                <a:solidFill>
                  <a:srgbClr val="FFFFFF"/>
                </a:solidFill>
                <a:latin typeface="Cambria" pitchFamily="34" charset="0"/>
                <a:ea typeface="Cambria" pitchFamily="34" charset="-122"/>
                <a:cs typeface="Cambria" pitchFamily="34" charset="-120"/>
              </a:rPr>
              <a:t>Thank You</a:t>
            </a:r>
            <a:endParaRPr lang="en-US" sz="5000" dirty="0"/>
          </a:p>
        </p:txBody>
      </p:sp>
      <p:sp>
        <p:nvSpPr>
          <p:cNvPr id="7" name="Text 4"/>
          <p:cNvSpPr/>
          <p:nvPr/>
        </p:nvSpPr>
        <p:spPr>
          <a:xfrm>
            <a:off x="731520" y="3246120"/>
            <a:ext cx="10725912" cy="548640"/>
          </a:xfrm>
          <a:prstGeom prst="rect">
            <a:avLst/>
          </a:prstGeom>
          <a:noFill/>
          <a:ln/>
        </p:spPr>
        <p:txBody>
          <a:bodyPr wrap="square" rtlCol="0" anchor="ctr"/>
          <a:lstStyle/>
          <a:p>
            <a:pPr marL="0" indent="0" algn="ctr">
              <a:buNone/>
            </a:pPr>
            <a:r>
              <a:rPr lang="en-US" sz="2000" i="1" dirty="0">
                <a:solidFill>
                  <a:srgbClr val="F5A623"/>
                </a:solidFill>
                <a:latin typeface="Calibri" pitchFamily="34" charset="0"/>
                <a:ea typeface="Calibri" pitchFamily="34" charset="-122"/>
                <a:cs typeface="Calibri" pitchFamily="34" charset="-120"/>
              </a:rPr>
              <a:t>Any Questions?</a:t>
            </a:r>
            <a:endParaRPr lang="en-US" sz="2000" dirty="0"/>
          </a:p>
        </p:txBody>
      </p:sp>
    </p:spTree>
  </p:cSld>
  <p:clrMapOvr>
    <a:masterClrMapping/>
  </p:clrMapOvr>
  <p:transition spd="slow">
    <p:cove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1318</Words>
  <Application>Microsoft Office PowerPoint</Application>
  <PresentationFormat>Widescreen</PresentationFormat>
  <Paragraphs>162</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furqaun khamkar</cp:lastModifiedBy>
  <cp:revision>2</cp:revision>
  <dcterms:created xsi:type="dcterms:W3CDTF">2026-07-13T18:07:06Z</dcterms:created>
  <dcterms:modified xsi:type="dcterms:W3CDTF">2026-07-13T18:45:14Z</dcterms:modified>
</cp:coreProperties>
</file>